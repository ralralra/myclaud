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11480"/>
          </a:xfrm>
          <a:prstGeom prst="rect">
            <a:avLst/>
          </a:prstGeom>
          <a:solidFill>
            <a:srgbClr val="1F3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36576"/>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54864"/>
            <a:ext cx="9144000" cy="320040"/>
          </a:xfrm>
          <a:prstGeom prst="rect">
            <a:avLst/>
          </a:prstGeom>
          <a:noFill/>
        </p:spPr>
        <p:txBody>
          <a:bodyPr wrap="square" lIns="45720" rIns="45720" tIns="18288" bIns="18288" anchor="t">
            <a:spAutoFit/>
          </a:bodyPr>
          <a:lstStyle/>
          <a:p>
            <a:pPr algn="l"/>
            <a:r>
              <a:rPr sz="1400" b="1">
                <a:solidFill>
                  <a:srgbClr val="FFFFFF"/>
                </a:solidFill>
                <a:latin typeface="Malgun Gothic"/>
                <a:ea typeface="Malgun Gothic"/>
              </a:rPr>
              <a:t>Ⅰ. 서론</a:t>
            </a:r>
          </a:p>
        </p:txBody>
      </p:sp>
      <p:sp>
        <p:nvSpPr>
          <p:cNvPr id="5" name="TextBox 4"/>
          <p:cNvSpPr txBox="1"/>
          <p:nvPr/>
        </p:nvSpPr>
        <p:spPr>
          <a:xfrm>
            <a:off x="10515600" y="54864"/>
            <a:ext cx="1554480" cy="320040"/>
          </a:xfrm>
          <a:prstGeom prst="rect">
            <a:avLst/>
          </a:prstGeom>
          <a:noFill/>
        </p:spPr>
        <p:txBody>
          <a:bodyPr wrap="square" lIns="45720" rIns="45720" tIns="18288" bIns="18288" anchor="t">
            <a:spAutoFit/>
          </a:bodyPr>
          <a:lstStyle/>
          <a:p>
            <a:pPr algn="r"/>
            <a:r>
              <a:rPr sz="1400" b="0">
                <a:solidFill>
                  <a:srgbClr val="E8EEF7"/>
                </a:solidFill>
                <a:latin typeface="Malgun Gothic"/>
                <a:ea typeface="Malgun Gothic"/>
              </a:rPr>
              <a:t>1 / 6</a:t>
            </a:r>
          </a:p>
        </p:txBody>
      </p:sp>
      <p:sp>
        <p:nvSpPr>
          <p:cNvPr id="6" name="TextBox 5"/>
          <p:cNvSpPr txBox="1"/>
          <p:nvPr/>
        </p:nvSpPr>
        <p:spPr>
          <a:xfrm>
            <a:off x="457200" y="594360"/>
            <a:ext cx="11247120" cy="640080"/>
          </a:xfrm>
          <a:prstGeom prst="rect">
            <a:avLst/>
          </a:prstGeom>
          <a:noFill/>
        </p:spPr>
        <p:txBody>
          <a:bodyPr wrap="square" lIns="45720" rIns="45720" tIns="18288" bIns="18288" anchor="t">
            <a:spAutoFit/>
          </a:bodyPr>
          <a:lstStyle/>
          <a:p>
            <a:pPr algn="l"/>
            <a:r>
              <a:rPr sz="3000" b="1">
                <a:solidFill>
                  <a:srgbClr val="1F365C"/>
                </a:solidFill>
                <a:latin typeface="Malgun Gothic"/>
                <a:ea typeface="Malgun Gothic"/>
              </a:rPr>
              <a:t>연구 배경과 문제 의식</a:t>
            </a:r>
          </a:p>
        </p:txBody>
      </p:sp>
      <p:sp>
        <p:nvSpPr>
          <p:cNvPr id="7" name="TextBox 6"/>
          <p:cNvSpPr txBox="1"/>
          <p:nvPr/>
        </p:nvSpPr>
        <p:spPr>
          <a:xfrm>
            <a:off x="457200" y="1325880"/>
            <a:ext cx="11247120" cy="457200"/>
          </a:xfrm>
          <a:prstGeom prst="rect">
            <a:avLst/>
          </a:prstGeom>
          <a:noFill/>
        </p:spPr>
        <p:txBody>
          <a:bodyPr wrap="square" lIns="45720" rIns="45720" tIns="18288" bIns="18288" anchor="t">
            <a:spAutoFit/>
          </a:bodyPr>
          <a:lstStyle/>
          <a:p>
            <a:pPr algn="l"/>
            <a:r>
              <a:rPr sz="1800" b="0">
                <a:solidFill>
                  <a:srgbClr val="333333"/>
                </a:solidFill>
                <a:latin typeface="Malgun Gothic"/>
                <a:ea typeface="Malgun Gothic"/>
              </a:rPr>
              <a:t>생성형 AI의 확산으로 학습 산출 방식이 근본적으로 변화하고 있다</a:t>
            </a:r>
          </a:p>
        </p:txBody>
      </p:sp>
      <p:sp>
        <p:nvSpPr>
          <p:cNvPr id="8" name="Rounded Rectangle 7"/>
          <p:cNvSpPr/>
          <p:nvPr/>
        </p:nvSpPr>
        <p:spPr>
          <a:xfrm>
            <a:off x="457200" y="1920240"/>
            <a:ext cx="5394960" cy="1554480"/>
          </a:xfrm>
          <a:prstGeom prst="roundRect">
            <a:avLst>
              <a:gd name="adj" fmla="val 10000"/>
            </a:avLst>
          </a:prstGeom>
          <a:solidFill>
            <a:srgbClr val="F5F7FA"/>
          </a:solidFill>
          <a:ln w="12700">
            <a:solidFill>
              <a:srgbClr val="1F36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011680"/>
            <a:ext cx="5029200" cy="365760"/>
          </a:xfrm>
          <a:prstGeom prst="rect">
            <a:avLst/>
          </a:prstGeom>
          <a:noFill/>
        </p:spPr>
        <p:txBody>
          <a:bodyPr wrap="square" lIns="45720" rIns="45720" tIns="18288" bIns="18288" anchor="t">
            <a:spAutoFit/>
          </a:bodyPr>
          <a:lstStyle/>
          <a:p>
            <a:pPr algn="l"/>
            <a:r>
              <a:rPr sz="1400" b="1">
                <a:solidFill>
                  <a:srgbClr val="1F365C"/>
                </a:solidFill>
                <a:latin typeface="Malgun Gothic"/>
                <a:ea typeface="Malgun Gothic"/>
              </a:rPr>
              <a:t>학습 산출 방식의 변화</a:t>
            </a:r>
          </a:p>
        </p:txBody>
      </p:sp>
      <p:sp>
        <p:nvSpPr>
          <p:cNvPr id="10" name="TextBox 9"/>
          <p:cNvSpPr txBox="1"/>
          <p:nvPr/>
        </p:nvSpPr>
        <p:spPr>
          <a:xfrm>
            <a:off x="640080" y="2377440"/>
            <a:ext cx="5029200" cy="1005840"/>
          </a:xfrm>
          <a:prstGeom prst="rect">
            <a:avLst/>
          </a:prstGeom>
          <a:noFill/>
        </p:spPr>
        <p:txBody>
          <a:bodyPr wrap="square" lIns="45720" rIns="45720" tIns="18288" bIns="18288" anchor="t">
            <a:spAutoFit/>
          </a:bodyPr>
          <a:lstStyle/>
          <a:p>
            <a:pPr algn="l"/>
            <a:r>
              <a:rPr sz="1300" b="0">
                <a:solidFill>
                  <a:srgbClr val="333333"/>
                </a:solidFill>
                <a:latin typeface="Malgun Gothic"/>
                <a:ea typeface="Malgun Gothic"/>
              </a:rPr>
              <a:t>글 · 보고서 · 발표자료 · 코드 등 다양한 학습 산출물을
학습자가 직접 작성하지 않아도 AI가 즉시 생성한다.</a:t>
            </a:r>
          </a:p>
        </p:txBody>
      </p:sp>
      <p:sp>
        <p:nvSpPr>
          <p:cNvPr id="11" name="Rounded Rectangle 10"/>
          <p:cNvSpPr/>
          <p:nvPr/>
        </p:nvSpPr>
        <p:spPr>
          <a:xfrm>
            <a:off x="6355080" y="1920240"/>
            <a:ext cx="5394960" cy="1554480"/>
          </a:xfrm>
          <a:prstGeom prst="roundRect">
            <a:avLst>
              <a:gd name="adj" fmla="val 10000"/>
            </a:avLst>
          </a:prstGeom>
          <a:solidFill>
            <a:srgbClr val="FBECEC"/>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7960" y="2011680"/>
            <a:ext cx="5029200" cy="365760"/>
          </a:xfrm>
          <a:prstGeom prst="rect">
            <a:avLst/>
          </a:prstGeom>
          <a:noFill/>
        </p:spPr>
        <p:txBody>
          <a:bodyPr wrap="square" lIns="45720" rIns="45720" tIns="18288" bIns="18288" anchor="t">
            <a:spAutoFit/>
          </a:bodyPr>
          <a:lstStyle/>
          <a:p>
            <a:pPr algn="l"/>
            <a:r>
              <a:rPr sz="1400" b="1">
                <a:solidFill>
                  <a:srgbClr val="C0392B"/>
                </a:solidFill>
                <a:latin typeface="Malgun Gothic"/>
                <a:ea typeface="Malgun Gothic"/>
              </a:rPr>
              <a:t>사고 위임의 위험</a:t>
            </a:r>
          </a:p>
        </p:txBody>
      </p:sp>
      <p:sp>
        <p:nvSpPr>
          <p:cNvPr id="13" name="TextBox 12"/>
          <p:cNvSpPr txBox="1"/>
          <p:nvPr/>
        </p:nvSpPr>
        <p:spPr>
          <a:xfrm>
            <a:off x="6537960" y="2377440"/>
            <a:ext cx="5029200" cy="1005840"/>
          </a:xfrm>
          <a:prstGeom prst="rect">
            <a:avLst/>
          </a:prstGeom>
          <a:noFill/>
        </p:spPr>
        <p:txBody>
          <a:bodyPr wrap="square" lIns="45720" rIns="45720" tIns="18288" bIns="18288" anchor="t">
            <a:spAutoFit/>
          </a:bodyPr>
          <a:lstStyle/>
          <a:p>
            <a:pPr algn="l"/>
            <a:r>
              <a:rPr sz="1200" b="0">
                <a:solidFill>
                  <a:srgbClr val="333333"/>
                </a:solidFill>
                <a:latin typeface="Malgun Gothic"/>
                <a:ea typeface="Malgun Gothic"/>
              </a:rPr>
              <a:t>산출물은 완성되어도 학습자의 사고는 빠질 수 있다.
AI 고스트라이터 효과(Draxler, 2024), 인지적 오프로딩을
매개로 한 비판적 사고 약화(Gerlich, 2025) 보고.</a:t>
            </a:r>
          </a:p>
        </p:txBody>
      </p:sp>
      <p:sp>
        <p:nvSpPr>
          <p:cNvPr id="14" name="TextBox 13"/>
          <p:cNvSpPr txBox="1"/>
          <p:nvPr/>
        </p:nvSpPr>
        <p:spPr>
          <a:xfrm>
            <a:off x="457200" y="3749039"/>
            <a:ext cx="11247120" cy="365760"/>
          </a:xfrm>
          <a:prstGeom prst="rect">
            <a:avLst/>
          </a:prstGeom>
          <a:noFill/>
        </p:spPr>
        <p:txBody>
          <a:bodyPr wrap="square" lIns="45720" rIns="45720" tIns="18288" bIns="18288" anchor="t">
            <a:spAutoFit/>
          </a:bodyPr>
          <a:lstStyle/>
          <a:p>
            <a:pPr algn="l"/>
            <a:r>
              <a:rPr sz="1600" b="1">
                <a:solidFill>
                  <a:srgbClr val="1F365C"/>
                </a:solidFill>
                <a:latin typeface="Malgun Gothic"/>
                <a:ea typeface="Malgun Gothic"/>
              </a:rPr>
              <a:t>연구문제</a:t>
            </a:r>
          </a:p>
        </p:txBody>
      </p:sp>
      <p:sp>
        <p:nvSpPr>
          <p:cNvPr id="15" name="Rounded Rectangle 14"/>
          <p:cNvSpPr/>
          <p:nvPr/>
        </p:nvSpPr>
        <p:spPr>
          <a:xfrm>
            <a:off x="457200" y="4160520"/>
            <a:ext cx="3703320" cy="1965960"/>
          </a:xfrm>
          <a:prstGeom prst="roundRect">
            <a:avLst>
              <a:gd name="adj" fmla="val 10000"/>
            </a:avLst>
          </a:prstGeom>
          <a:solidFill>
            <a:srgbClr val="FFFFFF"/>
          </a:solidFill>
          <a:ln w="12700">
            <a:solidFill>
              <a:srgbClr val="1F36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4160520"/>
            <a:ext cx="3703320" cy="502920"/>
          </a:xfrm>
          <a:prstGeom prst="rect">
            <a:avLst/>
          </a:prstGeom>
          <a:solidFill>
            <a:srgbClr val="1F3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4206240"/>
            <a:ext cx="3520440" cy="411480"/>
          </a:xfrm>
          <a:prstGeom prst="rect">
            <a:avLst/>
          </a:prstGeom>
          <a:noFill/>
        </p:spPr>
        <p:txBody>
          <a:bodyPr wrap="square" lIns="45720" rIns="45720" tIns="18288" bIns="18288" anchor="ctr">
            <a:spAutoFit/>
          </a:bodyPr>
          <a:lstStyle/>
          <a:p>
            <a:pPr algn="l"/>
            <a:r>
              <a:rPr sz="1500" b="1">
                <a:solidFill>
                  <a:srgbClr val="FFFFFF"/>
                </a:solidFill>
                <a:latin typeface="Malgun Gothic"/>
                <a:ea typeface="Malgun Gothic"/>
              </a:rPr>
              <a:t>RQ 1</a:t>
            </a:r>
          </a:p>
        </p:txBody>
      </p:sp>
      <p:sp>
        <p:nvSpPr>
          <p:cNvPr id="18" name="TextBox 17"/>
          <p:cNvSpPr txBox="1"/>
          <p:nvPr/>
        </p:nvSpPr>
        <p:spPr>
          <a:xfrm>
            <a:off x="640080" y="4800600"/>
            <a:ext cx="3337560" cy="1280160"/>
          </a:xfrm>
          <a:prstGeom prst="rect">
            <a:avLst/>
          </a:prstGeom>
          <a:noFill/>
        </p:spPr>
        <p:txBody>
          <a:bodyPr wrap="square" lIns="45720" rIns="45720" tIns="18288" bIns="18288" anchor="t">
            <a:spAutoFit/>
          </a:bodyPr>
          <a:lstStyle/>
          <a:p>
            <a:pPr algn="l"/>
            <a:r>
              <a:rPr sz="1300" b="0">
                <a:solidFill>
                  <a:srgbClr val="333333"/>
                </a:solidFill>
                <a:latin typeface="Malgun Gothic"/>
                <a:ea typeface="Malgun Gothic"/>
              </a:rPr>
              <a:t>AI 활용 학습에서 학습자의 사고 주도성은 왜 약화될 수 있는가?</a:t>
            </a:r>
          </a:p>
        </p:txBody>
      </p:sp>
      <p:sp>
        <p:nvSpPr>
          <p:cNvPr id="19" name="Rounded Rectangle 18"/>
          <p:cNvSpPr/>
          <p:nvPr/>
        </p:nvSpPr>
        <p:spPr>
          <a:xfrm>
            <a:off x="4297680" y="4160520"/>
            <a:ext cx="3703320" cy="1965960"/>
          </a:xfrm>
          <a:prstGeom prst="roundRect">
            <a:avLst>
              <a:gd name="adj" fmla="val 10000"/>
            </a:avLst>
          </a:prstGeom>
          <a:solidFill>
            <a:srgbClr val="FFFFFF"/>
          </a:solidFill>
          <a:ln w="12700">
            <a:solidFill>
              <a:srgbClr val="1F36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297680" y="4160520"/>
            <a:ext cx="3703320" cy="502920"/>
          </a:xfrm>
          <a:prstGeom prst="rect">
            <a:avLst/>
          </a:prstGeom>
          <a:solidFill>
            <a:srgbClr val="1F3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80560" y="4206240"/>
            <a:ext cx="3520440" cy="411480"/>
          </a:xfrm>
          <a:prstGeom prst="rect">
            <a:avLst/>
          </a:prstGeom>
          <a:noFill/>
        </p:spPr>
        <p:txBody>
          <a:bodyPr wrap="square" lIns="45720" rIns="45720" tIns="18288" bIns="18288" anchor="ctr">
            <a:spAutoFit/>
          </a:bodyPr>
          <a:lstStyle/>
          <a:p>
            <a:pPr algn="l"/>
            <a:r>
              <a:rPr sz="1500" b="1">
                <a:solidFill>
                  <a:srgbClr val="FFFFFF"/>
                </a:solidFill>
                <a:latin typeface="Malgun Gothic"/>
                <a:ea typeface="Malgun Gothic"/>
              </a:rPr>
              <a:t>RQ 2</a:t>
            </a:r>
          </a:p>
        </p:txBody>
      </p:sp>
      <p:sp>
        <p:nvSpPr>
          <p:cNvPr id="22" name="TextBox 21"/>
          <p:cNvSpPr txBox="1"/>
          <p:nvPr/>
        </p:nvSpPr>
        <p:spPr>
          <a:xfrm>
            <a:off x="4480560" y="4800600"/>
            <a:ext cx="3337560" cy="1280160"/>
          </a:xfrm>
          <a:prstGeom prst="rect">
            <a:avLst/>
          </a:prstGeom>
          <a:noFill/>
        </p:spPr>
        <p:txBody>
          <a:bodyPr wrap="square" lIns="45720" rIns="45720" tIns="18288" bIns="18288" anchor="t">
            <a:spAutoFit/>
          </a:bodyPr>
          <a:lstStyle/>
          <a:p>
            <a:pPr algn="l"/>
            <a:r>
              <a:rPr sz="1300" b="0">
                <a:solidFill>
                  <a:srgbClr val="333333"/>
                </a:solidFill>
                <a:latin typeface="Malgun Gothic"/>
                <a:ea typeface="Malgun Gothic"/>
              </a:rPr>
              <a:t>사고 주도성 유지를 위해 메타인지적 조절 기제가 필요한 이유는 무엇인가?</a:t>
            </a:r>
          </a:p>
        </p:txBody>
      </p:sp>
      <p:sp>
        <p:nvSpPr>
          <p:cNvPr id="23" name="Rounded Rectangle 22"/>
          <p:cNvSpPr/>
          <p:nvPr/>
        </p:nvSpPr>
        <p:spPr>
          <a:xfrm>
            <a:off x="8138160" y="4160520"/>
            <a:ext cx="3703320" cy="1965960"/>
          </a:xfrm>
          <a:prstGeom prst="roundRect">
            <a:avLst>
              <a:gd name="adj" fmla="val 10000"/>
            </a:avLst>
          </a:prstGeom>
          <a:solidFill>
            <a:srgbClr val="FFFFFF"/>
          </a:solidFill>
          <a:ln w="12700">
            <a:solidFill>
              <a:srgbClr val="1F36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138160" y="4160520"/>
            <a:ext cx="3703320" cy="502920"/>
          </a:xfrm>
          <a:prstGeom prst="rect">
            <a:avLst/>
          </a:prstGeom>
          <a:solidFill>
            <a:srgbClr val="1F3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21040" y="4206240"/>
            <a:ext cx="3520440" cy="411480"/>
          </a:xfrm>
          <a:prstGeom prst="rect">
            <a:avLst/>
          </a:prstGeom>
          <a:noFill/>
        </p:spPr>
        <p:txBody>
          <a:bodyPr wrap="square" lIns="45720" rIns="45720" tIns="18288" bIns="18288" anchor="ctr">
            <a:spAutoFit/>
          </a:bodyPr>
          <a:lstStyle/>
          <a:p>
            <a:pPr algn="l"/>
            <a:r>
              <a:rPr sz="1500" b="1">
                <a:solidFill>
                  <a:srgbClr val="FFFFFF"/>
                </a:solidFill>
                <a:latin typeface="Malgun Gothic"/>
                <a:ea typeface="Malgun Gothic"/>
              </a:rPr>
              <a:t>RQ 3</a:t>
            </a:r>
          </a:p>
        </p:txBody>
      </p:sp>
      <p:sp>
        <p:nvSpPr>
          <p:cNvPr id="26" name="TextBox 25"/>
          <p:cNvSpPr txBox="1"/>
          <p:nvPr/>
        </p:nvSpPr>
        <p:spPr>
          <a:xfrm>
            <a:off x="8321040" y="4800600"/>
            <a:ext cx="3337560" cy="1280160"/>
          </a:xfrm>
          <a:prstGeom prst="rect">
            <a:avLst/>
          </a:prstGeom>
          <a:noFill/>
        </p:spPr>
        <p:txBody>
          <a:bodyPr wrap="square" lIns="45720" rIns="45720" tIns="18288" bIns="18288" anchor="t">
            <a:spAutoFit/>
          </a:bodyPr>
          <a:lstStyle/>
          <a:p>
            <a:pPr algn="l"/>
            <a:r>
              <a:rPr sz="1300" b="0">
                <a:solidFill>
                  <a:srgbClr val="333333"/>
                </a:solidFill>
                <a:latin typeface="Malgun Gothic"/>
                <a:ea typeface="Malgun Gothic"/>
              </a:rPr>
              <a:t>메타인지적 조절 기제는 어떤 방향으로 설계될 필요가 있는가?</a:t>
            </a:r>
          </a:p>
        </p:txBody>
      </p:sp>
      <p:sp>
        <p:nvSpPr>
          <p:cNvPr id="27" name="TextBox 26"/>
          <p:cNvSpPr txBox="1"/>
          <p:nvPr/>
        </p:nvSpPr>
        <p:spPr>
          <a:xfrm>
            <a:off x="457200" y="6446520"/>
            <a:ext cx="11247120" cy="320040"/>
          </a:xfrm>
          <a:prstGeom prst="rect">
            <a:avLst/>
          </a:prstGeom>
          <a:noFill/>
        </p:spPr>
        <p:txBody>
          <a:bodyPr wrap="square" lIns="45720" rIns="45720" tIns="18288" bIns="18288" anchor="t">
            <a:spAutoFit/>
          </a:bodyPr>
          <a:lstStyle/>
          <a:p>
            <a:pPr algn="l"/>
            <a:r>
              <a:rPr sz="1000" b="0">
                <a:solidFill>
                  <a:srgbClr val="666666"/>
                </a:solidFill>
                <a:latin typeface="Malgun Gothic"/>
                <a:ea typeface="Malgun Gothic"/>
              </a:rPr>
              <a:t>생성형 AI 활용 학습에서 사고 주도성과 메타인지적 조절 기제</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11480"/>
          </a:xfrm>
          <a:prstGeom prst="rect">
            <a:avLst/>
          </a:prstGeom>
          <a:solidFill>
            <a:srgbClr val="1F3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36576"/>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54864"/>
            <a:ext cx="9144000" cy="320040"/>
          </a:xfrm>
          <a:prstGeom prst="rect">
            <a:avLst/>
          </a:prstGeom>
          <a:noFill/>
        </p:spPr>
        <p:txBody>
          <a:bodyPr wrap="square" lIns="45720" rIns="45720" tIns="18288" bIns="18288" anchor="t">
            <a:spAutoFit/>
          </a:bodyPr>
          <a:lstStyle/>
          <a:p>
            <a:pPr algn="l"/>
            <a:r>
              <a:rPr sz="1400" b="1">
                <a:solidFill>
                  <a:srgbClr val="FFFFFF"/>
                </a:solidFill>
                <a:latin typeface="Malgun Gothic"/>
                <a:ea typeface="Malgun Gothic"/>
              </a:rPr>
              <a:t>Ⅱ. 이론적 배경</a:t>
            </a:r>
          </a:p>
        </p:txBody>
      </p:sp>
      <p:sp>
        <p:nvSpPr>
          <p:cNvPr id="5" name="TextBox 4"/>
          <p:cNvSpPr txBox="1"/>
          <p:nvPr/>
        </p:nvSpPr>
        <p:spPr>
          <a:xfrm>
            <a:off x="10515600" y="54864"/>
            <a:ext cx="1554480" cy="320040"/>
          </a:xfrm>
          <a:prstGeom prst="rect">
            <a:avLst/>
          </a:prstGeom>
          <a:noFill/>
        </p:spPr>
        <p:txBody>
          <a:bodyPr wrap="square" lIns="45720" rIns="45720" tIns="18288" bIns="18288" anchor="t">
            <a:spAutoFit/>
          </a:bodyPr>
          <a:lstStyle/>
          <a:p>
            <a:pPr algn="r"/>
            <a:r>
              <a:rPr sz="1400" b="0">
                <a:solidFill>
                  <a:srgbClr val="E8EEF7"/>
                </a:solidFill>
                <a:latin typeface="Malgun Gothic"/>
                <a:ea typeface="Malgun Gothic"/>
              </a:rPr>
              <a:t>2 / 6</a:t>
            </a:r>
          </a:p>
        </p:txBody>
      </p:sp>
      <p:sp>
        <p:nvSpPr>
          <p:cNvPr id="6" name="TextBox 5"/>
          <p:cNvSpPr txBox="1"/>
          <p:nvPr/>
        </p:nvSpPr>
        <p:spPr>
          <a:xfrm>
            <a:off x="457200" y="594360"/>
            <a:ext cx="11247120" cy="640080"/>
          </a:xfrm>
          <a:prstGeom prst="rect">
            <a:avLst/>
          </a:prstGeom>
          <a:noFill/>
        </p:spPr>
        <p:txBody>
          <a:bodyPr wrap="square" lIns="45720" rIns="45720" tIns="18288" bIns="18288" anchor="t">
            <a:spAutoFit/>
          </a:bodyPr>
          <a:lstStyle/>
          <a:p>
            <a:pPr algn="l"/>
            <a:r>
              <a:rPr sz="3000" b="1">
                <a:solidFill>
                  <a:srgbClr val="1F365C"/>
                </a:solidFill>
                <a:latin typeface="Malgun Gothic"/>
                <a:ea typeface="Malgun Gothic"/>
              </a:rPr>
              <a:t>이론적 배경 — 인지적 오프로딩 · 메타인지 · 자기조절학습</a:t>
            </a:r>
          </a:p>
        </p:txBody>
      </p:sp>
      <p:sp>
        <p:nvSpPr>
          <p:cNvPr id="7" name="Rounded Rectangle 6"/>
          <p:cNvSpPr/>
          <p:nvPr/>
        </p:nvSpPr>
        <p:spPr>
          <a:xfrm>
            <a:off x="457200" y="1508760"/>
            <a:ext cx="3383280" cy="2468880"/>
          </a:xfrm>
          <a:prstGeom prst="roundRect">
            <a:avLst>
              <a:gd name="adj" fmla="val 10000"/>
            </a:avLst>
          </a:prstGeom>
          <a:solidFill>
            <a:srgbClr val="FFFFFF"/>
          </a:solidFill>
          <a:ln w="12700">
            <a:solidFill>
              <a:srgbClr val="1F36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508760"/>
            <a:ext cx="3383280" cy="502920"/>
          </a:xfrm>
          <a:prstGeom prst="rect">
            <a:avLst/>
          </a:prstGeom>
          <a:solidFill>
            <a:srgbClr val="1F3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572768"/>
            <a:ext cx="3200400" cy="411480"/>
          </a:xfrm>
          <a:prstGeom prst="rect">
            <a:avLst/>
          </a:prstGeom>
          <a:noFill/>
        </p:spPr>
        <p:txBody>
          <a:bodyPr wrap="square" lIns="45720" rIns="45720" tIns="18288" bIns="18288" anchor="t">
            <a:spAutoFit/>
          </a:bodyPr>
          <a:lstStyle/>
          <a:p>
            <a:pPr algn="l"/>
            <a:r>
              <a:rPr sz="1500" b="1">
                <a:solidFill>
                  <a:srgbClr val="FFFFFF"/>
                </a:solidFill>
                <a:latin typeface="Malgun Gothic"/>
                <a:ea typeface="Malgun Gothic"/>
              </a:rPr>
              <a:t>인지적 오프로딩</a:t>
            </a:r>
          </a:p>
        </p:txBody>
      </p:sp>
      <p:sp>
        <p:nvSpPr>
          <p:cNvPr id="10" name="TextBox 9"/>
          <p:cNvSpPr txBox="1"/>
          <p:nvPr/>
        </p:nvSpPr>
        <p:spPr>
          <a:xfrm>
            <a:off x="640080" y="2148840"/>
            <a:ext cx="3017520" cy="1463040"/>
          </a:xfrm>
          <a:prstGeom prst="rect">
            <a:avLst/>
          </a:prstGeom>
          <a:noFill/>
        </p:spPr>
        <p:txBody>
          <a:bodyPr wrap="square" lIns="45720" rIns="45720" tIns="18288" bIns="18288" anchor="t">
            <a:spAutoFit/>
          </a:bodyPr>
          <a:lstStyle/>
          <a:p>
            <a:pPr algn="l"/>
            <a:r>
              <a:rPr sz="1200" b="0">
                <a:solidFill>
                  <a:srgbClr val="333333"/>
                </a:solidFill>
                <a:latin typeface="Malgun Gothic"/>
                <a:ea typeface="Malgun Gothic"/>
              </a:rPr>
              <a:t>정보처리 요구를 외부 도구·환경에
분산하는 행위. 효율적 전략일 수 있으나
메타인지적 평가의 오류로 인해
학습 사고까지 위임될 위험이 있다.</a:t>
            </a:r>
          </a:p>
        </p:txBody>
      </p:sp>
      <p:sp>
        <p:nvSpPr>
          <p:cNvPr id="11" name="TextBox 10"/>
          <p:cNvSpPr txBox="1"/>
          <p:nvPr/>
        </p:nvSpPr>
        <p:spPr>
          <a:xfrm>
            <a:off x="640080" y="3611880"/>
            <a:ext cx="3017520" cy="320040"/>
          </a:xfrm>
          <a:prstGeom prst="rect">
            <a:avLst/>
          </a:prstGeom>
          <a:noFill/>
        </p:spPr>
        <p:txBody>
          <a:bodyPr wrap="square" lIns="45720" rIns="45720" tIns="18288" bIns="18288" anchor="t">
            <a:spAutoFit/>
          </a:bodyPr>
          <a:lstStyle/>
          <a:p>
            <a:pPr algn="l"/>
            <a:r>
              <a:rPr sz="1000" b="0">
                <a:solidFill>
                  <a:srgbClr val="666666"/>
                </a:solidFill>
                <a:latin typeface="Malgun Gothic"/>
                <a:ea typeface="Malgun Gothic"/>
              </a:rPr>
              <a:t>Risko &amp; Gilbert (2016)</a:t>
            </a:r>
          </a:p>
        </p:txBody>
      </p:sp>
      <p:sp>
        <p:nvSpPr>
          <p:cNvPr id="12" name="Right Arrow 11"/>
          <p:cNvSpPr/>
          <p:nvPr/>
        </p:nvSpPr>
        <p:spPr>
          <a:xfrm>
            <a:off x="3858768" y="2606040"/>
            <a:ext cx="329184" cy="274320"/>
          </a:xfrm>
          <a:prstGeom prst="rightArrow">
            <a:avLst/>
          </a:prstGeom>
          <a:solidFill>
            <a:srgbClr val="1F3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206240" y="1508760"/>
            <a:ext cx="3383280" cy="2468880"/>
          </a:xfrm>
          <a:prstGeom prst="roundRect">
            <a:avLst>
              <a:gd name="adj" fmla="val 10000"/>
            </a:avLst>
          </a:prstGeom>
          <a:solidFill>
            <a:srgbClr val="FFFFFF"/>
          </a:solidFill>
          <a:ln w="12700">
            <a:solidFill>
              <a:srgbClr val="1F36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06240" y="1508760"/>
            <a:ext cx="3383280" cy="502920"/>
          </a:xfrm>
          <a:prstGeom prst="rect">
            <a:avLst/>
          </a:prstGeom>
          <a:solidFill>
            <a:srgbClr val="1F3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89120" y="1572768"/>
            <a:ext cx="3200400" cy="411480"/>
          </a:xfrm>
          <a:prstGeom prst="rect">
            <a:avLst/>
          </a:prstGeom>
          <a:noFill/>
        </p:spPr>
        <p:txBody>
          <a:bodyPr wrap="square" lIns="45720" rIns="45720" tIns="18288" bIns="18288" anchor="t">
            <a:spAutoFit/>
          </a:bodyPr>
          <a:lstStyle/>
          <a:p>
            <a:pPr algn="l"/>
            <a:r>
              <a:rPr sz="1500" b="1">
                <a:solidFill>
                  <a:srgbClr val="FFFFFF"/>
                </a:solidFill>
                <a:latin typeface="Malgun Gothic"/>
                <a:ea typeface="Malgun Gothic"/>
              </a:rPr>
              <a:t>메타인지</a:t>
            </a:r>
          </a:p>
        </p:txBody>
      </p:sp>
      <p:sp>
        <p:nvSpPr>
          <p:cNvPr id="16" name="TextBox 15"/>
          <p:cNvSpPr txBox="1"/>
          <p:nvPr/>
        </p:nvSpPr>
        <p:spPr>
          <a:xfrm>
            <a:off x="4389120" y="2148840"/>
            <a:ext cx="3017520" cy="1463040"/>
          </a:xfrm>
          <a:prstGeom prst="rect">
            <a:avLst/>
          </a:prstGeom>
          <a:noFill/>
        </p:spPr>
        <p:txBody>
          <a:bodyPr wrap="square" lIns="45720" rIns="45720" tIns="18288" bIns="18288" anchor="t">
            <a:spAutoFit/>
          </a:bodyPr>
          <a:lstStyle/>
          <a:p>
            <a:pPr algn="l"/>
            <a:r>
              <a:rPr sz="1200" b="0">
                <a:solidFill>
                  <a:srgbClr val="333333"/>
                </a:solidFill>
                <a:latin typeface="Malgun Gothic"/>
                <a:ea typeface="Malgun Gothic"/>
              </a:rPr>
              <a:t>인지에 대한 지식과 조절.
계획·점검·평가의 조절 과정이
학습 사고를 점검·수정하는
핵심 기제로 작동한다.</a:t>
            </a:r>
          </a:p>
        </p:txBody>
      </p:sp>
      <p:sp>
        <p:nvSpPr>
          <p:cNvPr id="17" name="TextBox 16"/>
          <p:cNvSpPr txBox="1"/>
          <p:nvPr/>
        </p:nvSpPr>
        <p:spPr>
          <a:xfrm>
            <a:off x="4389120" y="3611880"/>
            <a:ext cx="3017520" cy="320040"/>
          </a:xfrm>
          <a:prstGeom prst="rect">
            <a:avLst/>
          </a:prstGeom>
          <a:noFill/>
        </p:spPr>
        <p:txBody>
          <a:bodyPr wrap="square" lIns="45720" rIns="45720" tIns="18288" bIns="18288" anchor="t">
            <a:spAutoFit/>
          </a:bodyPr>
          <a:lstStyle/>
          <a:p>
            <a:pPr algn="l"/>
            <a:r>
              <a:rPr sz="1000" b="0">
                <a:solidFill>
                  <a:srgbClr val="666666"/>
                </a:solidFill>
                <a:latin typeface="Malgun Gothic"/>
                <a:ea typeface="Malgun Gothic"/>
              </a:rPr>
              <a:t>Flavell (1979); Schraw &amp; Dennison (1994)</a:t>
            </a:r>
          </a:p>
        </p:txBody>
      </p:sp>
      <p:sp>
        <p:nvSpPr>
          <p:cNvPr id="18" name="Right Arrow 17"/>
          <p:cNvSpPr/>
          <p:nvPr/>
        </p:nvSpPr>
        <p:spPr>
          <a:xfrm>
            <a:off x="7607808" y="2606040"/>
            <a:ext cx="329184" cy="274320"/>
          </a:xfrm>
          <a:prstGeom prst="rightArrow">
            <a:avLst/>
          </a:prstGeom>
          <a:solidFill>
            <a:srgbClr val="1F3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955280" y="1508760"/>
            <a:ext cx="3383280" cy="2468880"/>
          </a:xfrm>
          <a:prstGeom prst="roundRect">
            <a:avLst>
              <a:gd name="adj" fmla="val 10000"/>
            </a:avLst>
          </a:prstGeom>
          <a:solidFill>
            <a:srgbClr val="FFFFFF"/>
          </a:solidFill>
          <a:ln w="12700">
            <a:solidFill>
              <a:srgbClr val="1F36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55280" y="1508760"/>
            <a:ext cx="3383280" cy="502920"/>
          </a:xfrm>
          <a:prstGeom prst="rect">
            <a:avLst/>
          </a:prstGeom>
          <a:solidFill>
            <a:srgbClr val="1F3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38160" y="1572768"/>
            <a:ext cx="3200400" cy="411480"/>
          </a:xfrm>
          <a:prstGeom prst="rect">
            <a:avLst/>
          </a:prstGeom>
          <a:noFill/>
        </p:spPr>
        <p:txBody>
          <a:bodyPr wrap="square" lIns="45720" rIns="45720" tIns="18288" bIns="18288" anchor="t">
            <a:spAutoFit/>
          </a:bodyPr>
          <a:lstStyle/>
          <a:p>
            <a:pPr algn="l"/>
            <a:r>
              <a:rPr sz="1500" b="1">
                <a:solidFill>
                  <a:srgbClr val="FFFFFF"/>
                </a:solidFill>
                <a:latin typeface="Malgun Gothic"/>
                <a:ea typeface="Malgun Gothic"/>
              </a:rPr>
              <a:t>자기조절학습</a:t>
            </a:r>
          </a:p>
        </p:txBody>
      </p:sp>
      <p:sp>
        <p:nvSpPr>
          <p:cNvPr id="22" name="TextBox 21"/>
          <p:cNvSpPr txBox="1"/>
          <p:nvPr/>
        </p:nvSpPr>
        <p:spPr>
          <a:xfrm>
            <a:off x="8138160" y="2148840"/>
            <a:ext cx="3017520" cy="1463040"/>
          </a:xfrm>
          <a:prstGeom prst="rect">
            <a:avLst/>
          </a:prstGeom>
          <a:noFill/>
        </p:spPr>
        <p:txBody>
          <a:bodyPr wrap="square" lIns="45720" rIns="45720" tIns="18288" bIns="18288" anchor="t">
            <a:spAutoFit/>
          </a:bodyPr>
          <a:lstStyle/>
          <a:p>
            <a:pPr algn="l"/>
            <a:r>
              <a:rPr sz="1200" b="0">
                <a:solidFill>
                  <a:srgbClr val="333333"/>
                </a:solidFill>
                <a:latin typeface="Malgun Gothic"/>
                <a:ea typeface="Malgun Gothic"/>
              </a:rPr>
              <a:t>사전숙고 → 수행 통제 → 자기성찰의
순환적 학습 모형.
메타인지 조절은 학습 전·중·후
전 과정에 분산 배치되어야 한다.</a:t>
            </a:r>
          </a:p>
        </p:txBody>
      </p:sp>
      <p:sp>
        <p:nvSpPr>
          <p:cNvPr id="23" name="TextBox 22"/>
          <p:cNvSpPr txBox="1"/>
          <p:nvPr/>
        </p:nvSpPr>
        <p:spPr>
          <a:xfrm>
            <a:off x="8138160" y="3611880"/>
            <a:ext cx="3017520" cy="320040"/>
          </a:xfrm>
          <a:prstGeom prst="rect">
            <a:avLst/>
          </a:prstGeom>
          <a:noFill/>
        </p:spPr>
        <p:txBody>
          <a:bodyPr wrap="square" lIns="45720" rIns="45720" tIns="18288" bIns="18288" anchor="t">
            <a:spAutoFit/>
          </a:bodyPr>
          <a:lstStyle/>
          <a:p>
            <a:pPr algn="l"/>
            <a:r>
              <a:rPr sz="1000" b="0">
                <a:solidFill>
                  <a:srgbClr val="666666"/>
                </a:solidFill>
                <a:latin typeface="Malgun Gothic"/>
                <a:ea typeface="Malgun Gothic"/>
              </a:rPr>
              <a:t>Zimmerman (2002)</a:t>
            </a:r>
          </a:p>
        </p:txBody>
      </p:sp>
      <p:sp>
        <p:nvSpPr>
          <p:cNvPr id="24" name="Rounded Rectangle 23"/>
          <p:cNvSpPr/>
          <p:nvPr/>
        </p:nvSpPr>
        <p:spPr>
          <a:xfrm>
            <a:off x="457200" y="4434840"/>
            <a:ext cx="11247120" cy="1783080"/>
          </a:xfrm>
          <a:prstGeom prst="roundRect">
            <a:avLst>
              <a:gd name="adj" fmla="val 10000"/>
            </a:avLst>
          </a:prstGeom>
          <a:solidFill>
            <a:srgbClr val="F5F7FA"/>
          </a:solidFill>
          <a:ln w="12700">
            <a:solidFill>
              <a:srgbClr val="1F36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4526280"/>
            <a:ext cx="10789920" cy="411480"/>
          </a:xfrm>
          <a:prstGeom prst="rect">
            <a:avLst/>
          </a:prstGeom>
          <a:noFill/>
        </p:spPr>
        <p:txBody>
          <a:bodyPr wrap="square" lIns="45720" rIns="45720" tIns="18288" bIns="18288" anchor="t">
            <a:spAutoFit/>
          </a:bodyPr>
          <a:lstStyle/>
          <a:p>
            <a:pPr algn="l"/>
            <a:r>
              <a:rPr sz="1500" b="1">
                <a:solidFill>
                  <a:srgbClr val="1F365C"/>
                </a:solidFill>
                <a:latin typeface="Malgun Gothic"/>
                <a:ea typeface="Malgun Gothic"/>
              </a:rPr>
              <a:t>본 연구의 이론적 함의</a:t>
            </a:r>
          </a:p>
        </p:txBody>
      </p:sp>
      <p:sp>
        <p:nvSpPr>
          <p:cNvPr id="26" name="TextBox 25"/>
          <p:cNvSpPr txBox="1"/>
          <p:nvPr/>
        </p:nvSpPr>
        <p:spPr>
          <a:xfrm>
            <a:off x="731520" y="4937760"/>
            <a:ext cx="10789920" cy="1280160"/>
          </a:xfrm>
          <a:prstGeom prst="rect">
            <a:avLst/>
          </a:prstGeom>
          <a:noFill/>
        </p:spPr>
        <p:txBody>
          <a:bodyPr wrap="square" lIns="45720" rIns="45720" tIns="18288" bIns="18288" anchor="t">
            <a:spAutoFit/>
          </a:bodyPr>
          <a:lstStyle/>
          <a:p>
            <a:pPr algn="l"/>
            <a:r>
              <a:rPr sz="1300" b="0">
                <a:solidFill>
                  <a:srgbClr val="333333"/>
                </a:solidFill>
                <a:latin typeface="Malgun Gothic"/>
                <a:ea typeface="Malgun Gothic"/>
              </a:rPr>
              <a:t>AI 활용 학습에서는 메타인지적 평가의 오류 가능성이 더 크게 작동한다.
산출물이 매끄럽게 제시되어 이해 수준을 과대평가하기 쉽고,
AI 산출물의 정확성을 과신하기 쉬우며, 위임의 학습 손실이 즉시 드러나지 않는다.
따라서 메타인지 조절은 사후 성찰이 아닌 학습 전 과정의 설계 요소가 되어야 한다.</a:t>
            </a:r>
          </a:p>
        </p:txBody>
      </p:sp>
      <p:sp>
        <p:nvSpPr>
          <p:cNvPr id="27" name="TextBox 26"/>
          <p:cNvSpPr txBox="1"/>
          <p:nvPr/>
        </p:nvSpPr>
        <p:spPr>
          <a:xfrm>
            <a:off x="457200" y="6446520"/>
            <a:ext cx="11247120" cy="320040"/>
          </a:xfrm>
          <a:prstGeom prst="rect">
            <a:avLst/>
          </a:prstGeom>
          <a:noFill/>
        </p:spPr>
        <p:txBody>
          <a:bodyPr wrap="square" lIns="45720" rIns="45720" tIns="18288" bIns="18288" anchor="t">
            <a:spAutoFit/>
          </a:bodyPr>
          <a:lstStyle/>
          <a:p>
            <a:pPr algn="l"/>
            <a:r>
              <a:rPr sz="1000" b="0">
                <a:solidFill>
                  <a:srgbClr val="666666"/>
                </a:solidFill>
                <a:latin typeface="Malgun Gothic"/>
                <a:ea typeface="Malgun Gothic"/>
              </a:rPr>
              <a:t>생성형 AI 활용 학습에서 사고 주도성과 메타인지적 조절 기제</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11480"/>
          </a:xfrm>
          <a:prstGeom prst="rect">
            <a:avLst/>
          </a:prstGeom>
          <a:solidFill>
            <a:srgbClr val="1F3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36576"/>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54864"/>
            <a:ext cx="9144000" cy="320040"/>
          </a:xfrm>
          <a:prstGeom prst="rect">
            <a:avLst/>
          </a:prstGeom>
          <a:noFill/>
        </p:spPr>
        <p:txBody>
          <a:bodyPr wrap="square" lIns="45720" rIns="45720" tIns="18288" bIns="18288" anchor="t">
            <a:spAutoFit/>
          </a:bodyPr>
          <a:lstStyle/>
          <a:p>
            <a:pPr algn="l"/>
            <a:r>
              <a:rPr sz="1400" b="1">
                <a:solidFill>
                  <a:srgbClr val="FFFFFF"/>
                </a:solidFill>
                <a:latin typeface="Malgun Gothic"/>
                <a:ea typeface="Malgun Gothic"/>
              </a:rPr>
              <a:t>Ⅲ. 사고 주도성</a:t>
            </a:r>
          </a:p>
        </p:txBody>
      </p:sp>
      <p:sp>
        <p:nvSpPr>
          <p:cNvPr id="5" name="TextBox 4"/>
          <p:cNvSpPr txBox="1"/>
          <p:nvPr/>
        </p:nvSpPr>
        <p:spPr>
          <a:xfrm>
            <a:off x="10515600" y="54864"/>
            <a:ext cx="1554480" cy="320040"/>
          </a:xfrm>
          <a:prstGeom prst="rect">
            <a:avLst/>
          </a:prstGeom>
          <a:noFill/>
        </p:spPr>
        <p:txBody>
          <a:bodyPr wrap="square" lIns="45720" rIns="45720" tIns="18288" bIns="18288" anchor="t">
            <a:spAutoFit/>
          </a:bodyPr>
          <a:lstStyle/>
          <a:p>
            <a:pPr algn="r"/>
            <a:r>
              <a:rPr sz="1400" b="0">
                <a:solidFill>
                  <a:srgbClr val="E8EEF7"/>
                </a:solidFill>
                <a:latin typeface="Malgun Gothic"/>
                <a:ea typeface="Malgun Gothic"/>
              </a:rPr>
              <a:t>3 / 6</a:t>
            </a:r>
          </a:p>
        </p:txBody>
      </p:sp>
      <p:sp>
        <p:nvSpPr>
          <p:cNvPr id="6" name="TextBox 5"/>
          <p:cNvSpPr txBox="1"/>
          <p:nvPr/>
        </p:nvSpPr>
        <p:spPr>
          <a:xfrm>
            <a:off x="457200" y="594360"/>
            <a:ext cx="11247120" cy="640080"/>
          </a:xfrm>
          <a:prstGeom prst="rect">
            <a:avLst/>
          </a:prstGeom>
          <a:noFill/>
        </p:spPr>
        <p:txBody>
          <a:bodyPr wrap="square" lIns="45720" rIns="45720" tIns="18288" bIns="18288" anchor="t">
            <a:spAutoFit/>
          </a:bodyPr>
          <a:lstStyle/>
          <a:p>
            <a:pPr algn="l"/>
            <a:r>
              <a:rPr sz="3000" b="1">
                <a:solidFill>
                  <a:srgbClr val="1F365C"/>
                </a:solidFill>
                <a:latin typeface="Malgun Gothic"/>
                <a:ea typeface="Malgun Gothic"/>
              </a:rPr>
              <a:t>핵심 개념 — 사고 주도성 (Thinking Agency)</a:t>
            </a:r>
          </a:p>
        </p:txBody>
      </p:sp>
      <p:sp>
        <p:nvSpPr>
          <p:cNvPr id="7" name="Rounded Rectangle 6"/>
          <p:cNvSpPr/>
          <p:nvPr/>
        </p:nvSpPr>
        <p:spPr>
          <a:xfrm>
            <a:off x="457200" y="1371600"/>
            <a:ext cx="11247120" cy="1691640"/>
          </a:xfrm>
          <a:prstGeom prst="roundRect">
            <a:avLst>
              <a:gd name="adj" fmla="val 10000"/>
            </a:avLst>
          </a:prstGeom>
          <a:solidFill>
            <a:srgbClr val="F5F7FA"/>
          </a:solidFill>
          <a:ln w="12700">
            <a:solidFill>
              <a:srgbClr val="1F36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463040"/>
            <a:ext cx="10789920" cy="411480"/>
          </a:xfrm>
          <a:prstGeom prst="rect">
            <a:avLst/>
          </a:prstGeom>
          <a:noFill/>
        </p:spPr>
        <p:txBody>
          <a:bodyPr wrap="square" lIns="45720" rIns="45720" tIns="18288" bIns="18288" anchor="t">
            <a:spAutoFit/>
          </a:bodyPr>
          <a:lstStyle/>
          <a:p>
            <a:pPr algn="l"/>
            <a:r>
              <a:rPr sz="1400" b="1">
                <a:solidFill>
                  <a:srgbClr val="1F365C"/>
                </a:solidFill>
                <a:latin typeface="Malgun Gothic"/>
                <a:ea typeface="Malgun Gothic"/>
              </a:rPr>
              <a:t>정의</a:t>
            </a:r>
          </a:p>
        </p:txBody>
      </p:sp>
      <p:sp>
        <p:nvSpPr>
          <p:cNvPr id="9" name="TextBox 8"/>
          <p:cNvSpPr txBox="1"/>
          <p:nvPr/>
        </p:nvSpPr>
        <p:spPr>
          <a:xfrm>
            <a:off x="731520" y="1874519"/>
            <a:ext cx="10789920" cy="1188720"/>
          </a:xfrm>
          <a:prstGeom prst="rect">
            <a:avLst/>
          </a:prstGeom>
          <a:noFill/>
        </p:spPr>
        <p:txBody>
          <a:bodyPr wrap="square" lIns="45720" rIns="45720" tIns="18288" bIns="18288" anchor="t">
            <a:spAutoFit/>
          </a:bodyPr>
          <a:lstStyle/>
          <a:p>
            <a:pPr algn="l"/>
            <a:r>
              <a:rPr sz="1400" b="0">
                <a:solidFill>
                  <a:srgbClr val="333333"/>
                </a:solidFill>
                <a:latin typeface="Malgun Gothic"/>
                <a:ea typeface="Malgun Gothic"/>
              </a:rPr>
              <a:t>생성형 AI를 활용하는 학습 과정에서 학습자가 문제 이해, 질문 생성,
산출물 검토, 최종 판단, 책임 인식을 AI에 전적으로 위임하지 않고
유지하는 상태. AI 사용량의 문제가 아니라 AI 활용 과정에서의
‘학습자 위치’의 문제이다.</a:t>
            </a:r>
          </a:p>
        </p:txBody>
      </p:sp>
      <p:sp>
        <p:nvSpPr>
          <p:cNvPr id="10" name="TextBox 9"/>
          <p:cNvSpPr txBox="1"/>
          <p:nvPr/>
        </p:nvSpPr>
        <p:spPr>
          <a:xfrm>
            <a:off x="457200" y="3337560"/>
            <a:ext cx="11247120" cy="365760"/>
          </a:xfrm>
          <a:prstGeom prst="rect">
            <a:avLst/>
          </a:prstGeom>
          <a:noFill/>
        </p:spPr>
        <p:txBody>
          <a:bodyPr wrap="square" lIns="45720" rIns="45720" tIns="18288" bIns="18288" anchor="t">
            <a:spAutoFit/>
          </a:bodyPr>
          <a:lstStyle/>
          <a:p>
            <a:pPr algn="l"/>
            <a:r>
              <a:rPr sz="1500" b="1">
                <a:solidFill>
                  <a:srgbClr val="1F365C"/>
                </a:solidFill>
                <a:latin typeface="Malgun Gothic"/>
                <a:ea typeface="Malgun Gothic"/>
              </a:rPr>
              <a:t>관련 개념과의 구분</a:t>
            </a:r>
          </a:p>
        </p:txBody>
      </p:sp>
      <p:sp>
        <p:nvSpPr>
          <p:cNvPr id="11" name="Rounded Rectangle 10"/>
          <p:cNvSpPr/>
          <p:nvPr/>
        </p:nvSpPr>
        <p:spPr>
          <a:xfrm>
            <a:off x="457200" y="3794760"/>
            <a:ext cx="3703320" cy="2331720"/>
          </a:xfrm>
          <a:prstGeom prst="roundRect">
            <a:avLst>
              <a:gd name="adj" fmla="val 10000"/>
            </a:avLst>
          </a:prstGeom>
          <a:solidFill>
            <a:srgbClr val="FFFFFF"/>
          </a:solidFill>
          <a:ln w="12700">
            <a:solidFill>
              <a:srgbClr val="1F36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3794760"/>
            <a:ext cx="3703320" cy="502920"/>
          </a:xfrm>
          <a:prstGeom prst="rect">
            <a:avLst/>
          </a:prstGeom>
          <a:solidFill>
            <a:srgbClr val="1F3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849624"/>
            <a:ext cx="3520440" cy="411480"/>
          </a:xfrm>
          <a:prstGeom prst="rect">
            <a:avLst/>
          </a:prstGeom>
          <a:noFill/>
        </p:spPr>
        <p:txBody>
          <a:bodyPr wrap="square" lIns="45720" rIns="45720" tIns="18288" bIns="18288" anchor="t">
            <a:spAutoFit/>
          </a:bodyPr>
          <a:lstStyle/>
          <a:p>
            <a:pPr algn="l"/>
            <a:r>
              <a:rPr sz="1400" b="1">
                <a:solidFill>
                  <a:srgbClr val="FFFFFF"/>
                </a:solidFill>
                <a:latin typeface="Malgun Gothic"/>
                <a:ea typeface="Malgun Gothic"/>
              </a:rPr>
              <a:t>자기조절학습</a:t>
            </a:r>
          </a:p>
        </p:txBody>
      </p:sp>
      <p:sp>
        <p:nvSpPr>
          <p:cNvPr id="14" name="TextBox 13"/>
          <p:cNvSpPr txBox="1"/>
          <p:nvPr/>
        </p:nvSpPr>
        <p:spPr>
          <a:xfrm>
            <a:off x="640080" y="4434840"/>
            <a:ext cx="3337560" cy="1645920"/>
          </a:xfrm>
          <a:prstGeom prst="rect">
            <a:avLst/>
          </a:prstGeom>
          <a:noFill/>
        </p:spPr>
        <p:txBody>
          <a:bodyPr wrap="square" lIns="45720" rIns="45720" tIns="18288" bIns="18288" anchor="t">
            <a:spAutoFit/>
          </a:bodyPr>
          <a:lstStyle/>
          <a:p>
            <a:pPr algn="l"/>
            <a:r>
              <a:rPr sz="1200" b="0">
                <a:solidFill>
                  <a:srgbClr val="333333"/>
                </a:solidFill>
                <a:latin typeface="Malgun Gothic"/>
                <a:ea typeface="Malgun Gothic"/>
              </a:rPr>
              <a:t>학습 목표 달성을 위한 동기·전략·행동의 포괄적 조절.
사고 주도성은 그중 ‘AI–학습자 사이 사고 분담’에 초점.</a:t>
            </a:r>
          </a:p>
        </p:txBody>
      </p:sp>
      <p:sp>
        <p:nvSpPr>
          <p:cNvPr id="15" name="Rounded Rectangle 14"/>
          <p:cNvSpPr/>
          <p:nvPr/>
        </p:nvSpPr>
        <p:spPr>
          <a:xfrm>
            <a:off x="4297680" y="3794760"/>
            <a:ext cx="3703320" cy="2331720"/>
          </a:xfrm>
          <a:prstGeom prst="roundRect">
            <a:avLst>
              <a:gd name="adj" fmla="val 10000"/>
            </a:avLst>
          </a:prstGeom>
          <a:solidFill>
            <a:srgbClr val="FFFFFF"/>
          </a:solidFill>
          <a:ln w="12700">
            <a:solidFill>
              <a:srgbClr val="1F36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97680" y="3794760"/>
            <a:ext cx="3703320" cy="502920"/>
          </a:xfrm>
          <a:prstGeom prst="rect">
            <a:avLst/>
          </a:prstGeom>
          <a:solidFill>
            <a:srgbClr val="1F3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80560" y="3849624"/>
            <a:ext cx="3520440" cy="411480"/>
          </a:xfrm>
          <a:prstGeom prst="rect">
            <a:avLst/>
          </a:prstGeom>
          <a:noFill/>
        </p:spPr>
        <p:txBody>
          <a:bodyPr wrap="square" lIns="45720" rIns="45720" tIns="18288" bIns="18288" anchor="t">
            <a:spAutoFit/>
          </a:bodyPr>
          <a:lstStyle/>
          <a:p>
            <a:pPr algn="l"/>
            <a:r>
              <a:rPr sz="1400" b="1">
                <a:solidFill>
                  <a:srgbClr val="FFFFFF"/>
                </a:solidFill>
                <a:latin typeface="Malgun Gothic"/>
                <a:ea typeface="Malgun Gothic"/>
              </a:rPr>
              <a:t>인식론적 행위주체성</a:t>
            </a:r>
          </a:p>
        </p:txBody>
      </p:sp>
      <p:sp>
        <p:nvSpPr>
          <p:cNvPr id="18" name="TextBox 17"/>
          <p:cNvSpPr txBox="1"/>
          <p:nvPr/>
        </p:nvSpPr>
        <p:spPr>
          <a:xfrm>
            <a:off x="4480560" y="4434840"/>
            <a:ext cx="3337560" cy="1645920"/>
          </a:xfrm>
          <a:prstGeom prst="rect">
            <a:avLst/>
          </a:prstGeom>
          <a:noFill/>
        </p:spPr>
        <p:txBody>
          <a:bodyPr wrap="square" lIns="45720" rIns="45720" tIns="18288" bIns="18288" anchor="t">
            <a:spAutoFit/>
          </a:bodyPr>
          <a:lstStyle/>
          <a:p>
            <a:pPr algn="l"/>
            <a:r>
              <a:rPr sz="1200" b="0">
                <a:solidFill>
                  <a:srgbClr val="333333"/>
                </a:solidFill>
                <a:latin typeface="Malgun Gothic"/>
                <a:ea typeface="Malgun Gothic"/>
              </a:rPr>
              <a:t>학습자가 지식 생산의 주체로 남아 있는가에 대한 거시적 질문.
사고 주도성은 AI 상호작용 단위의 미시적 구현.</a:t>
            </a:r>
          </a:p>
        </p:txBody>
      </p:sp>
      <p:sp>
        <p:nvSpPr>
          <p:cNvPr id="19" name="Rounded Rectangle 18"/>
          <p:cNvSpPr/>
          <p:nvPr/>
        </p:nvSpPr>
        <p:spPr>
          <a:xfrm>
            <a:off x="8138160" y="3794760"/>
            <a:ext cx="3703320" cy="2331720"/>
          </a:xfrm>
          <a:prstGeom prst="roundRect">
            <a:avLst>
              <a:gd name="adj" fmla="val 10000"/>
            </a:avLst>
          </a:prstGeom>
          <a:solidFill>
            <a:srgbClr val="FFFFFF"/>
          </a:solidFill>
          <a:ln w="12700">
            <a:solidFill>
              <a:srgbClr val="1F36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38160" y="3794760"/>
            <a:ext cx="3703320" cy="502920"/>
          </a:xfrm>
          <a:prstGeom prst="rect">
            <a:avLst/>
          </a:prstGeom>
          <a:solidFill>
            <a:srgbClr val="1F3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21040" y="3849624"/>
            <a:ext cx="3520440" cy="411480"/>
          </a:xfrm>
          <a:prstGeom prst="rect">
            <a:avLst/>
          </a:prstGeom>
          <a:noFill/>
        </p:spPr>
        <p:txBody>
          <a:bodyPr wrap="square" lIns="45720" rIns="45720" tIns="18288" bIns="18288" anchor="t">
            <a:spAutoFit/>
          </a:bodyPr>
          <a:lstStyle/>
          <a:p>
            <a:pPr algn="l"/>
            <a:r>
              <a:rPr sz="1400" b="1">
                <a:solidFill>
                  <a:srgbClr val="FFFFFF"/>
                </a:solidFill>
                <a:latin typeface="Malgun Gothic"/>
                <a:ea typeface="Malgun Gothic"/>
              </a:rPr>
              <a:t>AI 리터러시</a:t>
            </a:r>
          </a:p>
        </p:txBody>
      </p:sp>
      <p:sp>
        <p:nvSpPr>
          <p:cNvPr id="22" name="TextBox 21"/>
          <p:cNvSpPr txBox="1"/>
          <p:nvPr/>
        </p:nvSpPr>
        <p:spPr>
          <a:xfrm>
            <a:off x="8321040" y="4434840"/>
            <a:ext cx="3337560" cy="1645920"/>
          </a:xfrm>
          <a:prstGeom prst="rect">
            <a:avLst/>
          </a:prstGeom>
          <a:noFill/>
        </p:spPr>
        <p:txBody>
          <a:bodyPr wrap="square" lIns="45720" rIns="45720" tIns="18288" bIns="18288" anchor="t">
            <a:spAutoFit/>
          </a:bodyPr>
          <a:lstStyle/>
          <a:p>
            <a:pPr algn="l"/>
            <a:r>
              <a:rPr sz="1200" b="0">
                <a:solidFill>
                  <a:srgbClr val="333333"/>
                </a:solidFill>
                <a:latin typeface="Malgun Gothic"/>
                <a:ea typeface="Malgun Gothic"/>
              </a:rPr>
              <a:t>AI를 비판·활용·소통하는 역량.
사고 주도성은 그 역량이 학습자 위치로 실제 유지되는가를 다룸.</a:t>
            </a:r>
          </a:p>
        </p:txBody>
      </p:sp>
      <p:sp>
        <p:nvSpPr>
          <p:cNvPr id="23" name="TextBox 22"/>
          <p:cNvSpPr txBox="1"/>
          <p:nvPr/>
        </p:nvSpPr>
        <p:spPr>
          <a:xfrm>
            <a:off x="457200" y="6446520"/>
            <a:ext cx="11247120" cy="320040"/>
          </a:xfrm>
          <a:prstGeom prst="rect">
            <a:avLst/>
          </a:prstGeom>
          <a:noFill/>
        </p:spPr>
        <p:txBody>
          <a:bodyPr wrap="square" lIns="45720" rIns="45720" tIns="18288" bIns="18288" anchor="t">
            <a:spAutoFit/>
          </a:bodyPr>
          <a:lstStyle/>
          <a:p>
            <a:pPr algn="l"/>
            <a:r>
              <a:rPr sz="1000" b="0">
                <a:solidFill>
                  <a:srgbClr val="666666"/>
                </a:solidFill>
                <a:latin typeface="Malgun Gothic"/>
                <a:ea typeface="Malgun Gothic"/>
              </a:rPr>
              <a:t>생성형 AI 활용 학습에서 사고 주도성과 메타인지적 조절 기제</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11480"/>
          </a:xfrm>
          <a:prstGeom prst="rect">
            <a:avLst/>
          </a:prstGeom>
          <a:solidFill>
            <a:srgbClr val="1F3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36576"/>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54864"/>
            <a:ext cx="9144000" cy="320040"/>
          </a:xfrm>
          <a:prstGeom prst="rect">
            <a:avLst/>
          </a:prstGeom>
          <a:noFill/>
        </p:spPr>
        <p:txBody>
          <a:bodyPr wrap="square" lIns="45720" rIns="45720" tIns="18288" bIns="18288" anchor="t">
            <a:spAutoFit/>
          </a:bodyPr>
          <a:lstStyle/>
          <a:p>
            <a:pPr algn="l"/>
            <a:r>
              <a:rPr sz="1400" b="1">
                <a:solidFill>
                  <a:srgbClr val="FFFFFF"/>
                </a:solidFill>
                <a:latin typeface="Malgun Gothic"/>
                <a:ea typeface="Malgun Gothic"/>
              </a:rPr>
              <a:t>Ⅲ. 사고 주도성</a:t>
            </a:r>
          </a:p>
        </p:txBody>
      </p:sp>
      <p:sp>
        <p:nvSpPr>
          <p:cNvPr id="5" name="TextBox 4"/>
          <p:cNvSpPr txBox="1"/>
          <p:nvPr/>
        </p:nvSpPr>
        <p:spPr>
          <a:xfrm>
            <a:off x="10515600" y="54864"/>
            <a:ext cx="1554480" cy="320040"/>
          </a:xfrm>
          <a:prstGeom prst="rect">
            <a:avLst/>
          </a:prstGeom>
          <a:noFill/>
        </p:spPr>
        <p:txBody>
          <a:bodyPr wrap="square" lIns="45720" rIns="45720" tIns="18288" bIns="18288" anchor="t">
            <a:spAutoFit/>
          </a:bodyPr>
          <a:lstStyle/>
          <a:p>
            <a:pPr algn="r"/>
            <a:r>
              <a:rPr sz="1400" b="0">
                <a:solidFill>
                  <a:srgbClr val="E8EEF7"/>
                </a:solidFill>
                <a:latin typeface="Malgun Gothic"/>
                <a:ea typeface="Malgun Gothic"/>
              </a:rPr>
              <a:t>4 / 6</a:t>
            </a:r>
          </a:p>
        </p:txBody>
      </p:sp>
      <p:sp>
        <p:nvSpPr>
          <p:cNvPr id="6" name="TextBox 5"/>
          <p:cNvSpPr txBox="1"/>
          <p:nvPr/>
        </p:nvSpPr>
        <p:spPr>
          <a:xfrm>
            <a:off x="457200" y="594360"/>
            <a:ext cx="11247120" cy="640080"/>
          </a:xfrm>
          <a:prstGeom prst="rect">
            <a:avLst/>
          </a:prstGeom>
          <a:noFill/>
        </p:spPr>
        <p:txBody>
          <a:bodyPr wrap="square" lIns="45720" rIns="45720" tIns="18288" bIns="18288" anchor="t">
            <a:spAutoFit/>
          </a:bodyPr>
          <a:lstStyle/>
          <a:p>
            <a:pPr algn="l"/>
            <a:r>
              <a:rPr sz="3000" b="1">
                <a:solidFill>
                  <a:srgbClr val="1F365C"/>
                </a:solidFill>
                <a:latin typeface="Malgun Gothic"/>
                <a:ea typeface="Malgun Gothic"/>
              </a:rPr>
              <a:t>사고 주도성의 네 차원</a:t>
            </a:r>
          </a:p>
        </p:txBody>
      </p:sp>
      <p:graphicFrame>
        <p:nvGraphicFramePr>
          <p:cNvPr id="7" name="Table 6"/>
          <p:cNvGraphicFramePr>
            <a:graphicFrameLocks noGrp="1"/>
          </p:cNvGraphicFramePr>
          <p:nvPr/>
        </p:nvGraphicFramePr>
        <p:xfrm>
          <a:off x="457200" y="1554480"/>
          <a:ext cx="11247119" cy="4343400"/>
        </p:xfrm>
        <a:graphic>
          <a:graphicData uri="http://schemas.openxmlformats.org/drawingml/2006/table">
            <a:tbl>
              <a:tblPr firstRow="1" bandRow="1">
                <a:tableStyleId>{5C22544A-7EE6-4342-B048-85BDC9FD1C3A}</a:tableStyleId>
              </a:tblPr>
              <a:tblGrid>
                <a:gridCol w="2011680"/>
                <a:gridCol w="5486400"/>
                <a:gridCol w="3749039"/>
              </a:tblGrid>
              <a:tr h="502920">
                <a:tc>
                  <a:txBody>
                    <a:bodyPr wrap="square"/>
                    <a:lstStyle/>
                    <a:p>
                      <a:pPr algn="ctr"/>
                      <a:r>
                        <a:rPr sz="1400" b="1">
                          <a:solidFill>
                            <a:srgbClr val="FFFFFF"/>
                          </a:solidFill>
                          <a:latin typeface="Malgun Gothic"/>
                          <a:ea typeface="Malgun Gothic"/>
                        </a:rPr>
                        <a:t>차원</a:t>
                      </a:r>
                    </a:p>
                  </a:txBody>
                  <a:tcPr marL="91440" marR="91440" marT="45720" marB="45720" anchor="ctr">
                    <a:solidFill>
                      <a:srgbClr val="1F365C"/>
                    </a:solidFill>
                  </a:tcPr>
                </a:tc>
                <a:tc>
                  <a:txBody>
                    <a:bodyPr wrap="square"/>
                    <a:lstStyle/>
                    <a:p>
                      <a:pPr algn="ctr"/>
                      <a:r>
                        <a:rPr sz="1400" b="1">
                          <a:solidFill>
                            <a:srgbClr val="FFFFFF"/>
                          </a:solidFill>
                          <a:latin typeface="Malgun Gothic"/>
                          <a:ea typeface="Malgun Gothic"/>
                        </a:rPr>
                        <a:t>의미</a:t>
                      </a:r>
                    </a:p>
                  </a:txBody>
                  <a:tcPr marL="91440" marR="91440" marT="45720" marB="45720" anchor="ctr">
                    <a:solidFill>
                      <a:srgbClr val="1F365C"/>
                    </a:solidFill>
                  </a:tcPr>
                </a:tc>
                <a:tc>
                  <a:txBody>
                    <a:bodyPr wrap="square"/>
                    <a:lstStyle/>
                    <a:p>
                      <a:pPr algn="ctr"/>
                      <a:r>
                        <a:rPr sz="1400" b="1">
                          <a:solidFill>
                            <a:srgbClr val="FFFFFF"/>
                          </a:solidFill>
                          <a:latin typeface="Malgun Gothic"/>
                          <a:ea typeface="Malgun Gothic"/>
                        </a:rPr>
                        <a:t>학습자 사고 위치의 핵심</a:t>
                      </a:r>
                    </a:p>
                  </a:txBody>
                  <a:tcPr marL="91440" marR="91440" marT="45720" marB="45720" anchor="ctr">
                    <a:solidFill>
                      <a:srgbClr val="1F365C"/>
                    </a:solidFill>
                  </a:tcPr>
                </a:tc>
              </a:tr>
              <a:tr h="960120">
                <a:tc>
                  <a:txBody>
                    <a:bodyPr wrap="square"/>
                    <a:lstStyle/>
                    <a:p>
                      <a:pPr algn="ctr"/>
                      <a:r>
                        <a:rPr sz="1400" b="1">
                          <a:solidFill>
                            <a:srgbClr val="FFFFFF"/>
                          </a:solidFill>
                          <a:latin typeface="Malgun Gothic"/>
                          <a:ea typeface="Malgun Gothic"/>
                        </a:rPr>
                        <a:t>문제 이해</a:t>
                      </a:r>
                    </a:p>
                  </a:txBody>
                  <a:tcPr marL="91440" marR="91440" marT="45720" marB="45720" anchor="ctr">
                    <a:solidFill>
                      <a:srgbClr val="2E86AB"/>
                    </a:solidFill>
                  </a:tcPr>
                </a:tc>
                <a:tc>
                  <a:txBody>
                    <a:bodyPr wrap="square"/>
                    <a:lstStyle/>
                    <a:p>
                      <a:pPr algn="l"/>
                      <a:r>
                        <a:rPr sz="1200" b="0">
                          <a:solidFill>
                            <a:srgbClr val="333333"/>
                          </a:solidFill>
                          <a:latin typeface="Malgun Gothic"/>
                          <a:ea typeface="Malgun Gothic"/>
                        </a:rPr>
                        <a:t>AI에게 묻기 전 학습자가 과제의 목적과
문제를 이해하는 정도</a:t>
                      </a:r>
                    </a:p>
                  </a:txBody>
                  <a:tcPr marL="91440" marR="91440" marT="45720" marB="45720" anchor="ctr">
                    <a:solidFill>
                      <a:srgbClr val="FFFFFF"/>
                    </a:solidFill>
                  </a:tcPr>
                </a:tc>
                <a:tc>
                  <a:txBody>
                    <a:bodyPr wrap="square"/>
                    <a:lstStyle/>
                    <a:p>
                      <a:pPr algn="ctr"/>
                      <a:r>
                        <a:rPr sz="1200" b="0">
                          <a:solidFill>
                            <a:srgbClr val="333333"/>
                          </a:solidFill>
                          <a:latin typeface="Malgun Gothic"/>
                          <a:ea typeface="Malgun Gothic"/>
                        </a:rPr>
                        <a:t>‘무엇을 묻는가’의 주체</a:t>
                      </a:r>
                    </a:p>
                  </a:txBody>
                  <a:tcPr marL="91440" marR="91440" marT="45720" marB="45720" anchor="ctr">
                    <a:solidFill>
                      <a:srgbClr val="E3EFF6"/>
                    </a:solidFill>
                  </a:tcPr>
                </a:tc>
              </a:tr>
              <a:tr h="960120">
                <a:tc>
                  <a:txBody>
                    <a:bodyPr wrap="square"/>
                    <a:lstStyle/>
                    <a:p>
                      <a:pPr algn="ctr"/>
                      <a:r>
                        <a:rPr sz="1400" b="1">
                          <a:solidFill>
                            <a:srgbClr val="FFFFFF"/>
                          </a:solidFill>
                          <a:latin typeface="Malgun Gothic"/>
                          <a:ea typeface="Malgun Gothic"/>
                        </a:rPr>
                        <a:t>위임 인식</a:t>
                      </a:r>
                    </a:p>
                  </a:txBody>
                  <a:tcPr marL="91440" marR="91440" marT="45720" marB="45720" anchor="ctr">
                    <a:solidFill>
                      <a:srgbClr val="3E9953"/>
                    </a:solidFill>
                  </a:tcPr>
                </a:tc>
                <a:tc>
                  <a:txBody>
                    <a:bodyPr wrap="square"/>
                    <a:lstStyle/>
                    <a:p>
                      <a:pPr algn="l"/>
                      <a:r>
                        <a:rPr sz="1200" b="0">
                          <a:solidFill>
                            <a:srgbClr val="333333"/>
                          </a:solidFill>
                          <a:latin typeface="Malgun Gothic"/>
                          <a:ea typeface="Malgun Gothic"/>
                        </a:rPr>
                        <a:t>AI가 수행한 부분과 자신이 수행한
부분을 구분하는 정도</a:t>
                      </a:r>
                    </a:p>
                  </a:txBody>
                  <a:tcPr marL="91440" marR="91440" marT="45720" marB="45720" anchor="ctr">
                    <a:solidFill>
                      <a:srgbClr val="FFFFFF"/>
                    </a:solidFill>
                  </a:tcPr>
                </a:tc>
                <a:tc>
                  <a:txBody>
                    <a:bodyPr wrap="square"/>
                    <a:lstStyle/>
                    <a:p>
                      <a:pPr algn="ctr"/>
                      <a:r>
                        <a:rPr sz="1200" b="0">
                          <a:solidFill>
                            <a:srgbClr val="333333"/>
                          </a:solidFill>
                          <a:latin typeface="Malgun Gothic"/>
                          <a:ea typeface="Malgun Gothic"/>
                        </a:rPr>
                        <a:t>사고 분담에 대한 자각</a:t>
                      </a:r>
                    </a:p>
                  </a:txBody>
                  <a:tcPr marL="91440" marR="91440" marT="45720" marB="45720" anchor="ctr">
                    <a:solidFill>
                      <a:srgbClr val="E3F1E6"/>
                    </a:solidFill>
                  </a:tcPr>
                </a:tc>
              </a:tr>
              <a:tr h="960120">
                <a:tc>
                  <a:txBody>
                    <a:bodyPr wrap="square"/>
                    <a:lstStyle/>
                    <a:p>
                      <a:pPr algn="ctr"/>
                      <a:r>
                        <a:rPr sz="1400" b="1">
                          <a:solidFill>
                            <a:srgbClr val="FFFFFF"/>
                          </a:solidFill>
                          <a:latin typeface="Malgun Gothic"/>
                          <a:ea typeface="Malgun Gothic"/>
                        </a:rPr>
                        <a:t>검증 판단</a:t>
                      </a:r>
                    </a:p>
                  </a:txBody>
                  <a:tcPr marL="91440" marR="91440" marT="45720" marB="45720" anchor="ctr">
                    <a:solidFill>
                      <a:srgbClr val="E67E22"/>
                    </a:solidFill>
                  </a:tcPr>
                </a:tc>
                <a:tc>
                  <a:txBody>
                    <a:bodyPr wrap="square"/>
                    <a:lstStyle/>
                    <a:p>
                      <a:pPr algn="l"/>
                      <a:r>
                        <a:rPr sz="1200" b="0">
                          <a:solidFill>
                            <a:srgbClr val="333333"/>
                          </a:solidFill>
                          <a:latin typeface="Malgun Gothic"/>
                          <a:ea typeface="Malgun Gothic"/>
                        </a:rPr>
                        <a:t>AI 산출물의 정확성, 근거, 맥락
적합성을 점검하는 정도</a:t>
                      </a:r>
                    </a:p>
                  </a:txBody>
                  <a:tcPr marL="91440" marR="91440" marT="45720" marB="45720" anchor="ctr">
                    <a:solidFill>
                      <a:srgbClr val="FFFFFF"/>
                    </a:solidFill>
                  </a:tcPr>
                </a:tc>
                <a:tc>
                  <a:txBody>
                    <a:bodyPr wrap="square"/>
                    <a:lstStyle/>
                    <a:p>
                      <a:pPr algn="ctr"/>
                      <a:r>
                        <a:rPr sz="1200" b="0">
                          <a:solidFill>
                            <a:srgbClr val="333333"/>
                          </a:solidFill>
                          <a:latin typeface="Malgun Gothic"/>
                          <a:ea typeface="Malgun Gothic"/>
                        </a:rPr>
                        <a:t>산출물에 대한 판단의 주체</a:t>
                      </a:r>
                    </a:p>
                  </a:txBody>
                  <a:tcPr marL="91440" marR="91440" marT="45720" marB="45720" anchor="ctr">
                    <a:solidFill>
                      <a:srgbClr val="FBECDC"/>
                    </a:solidFill>
                  </a:tcPr>
                </a:tc>
              </a:tr>
              <a:tr h="960120">
                <a:tc>
                  <a:txBody>
                    <a:bodyPr wrap="square"/>
                    <a:lstStyle/>
                    <a:p>
                      <a:pPr algn="ctr"/>
                      <a:r>
                        <a:rPr sz="1400" b="1">
                          <a:solidFill>
                            <a:srgbClr val="FFFFFF"/>
                          </a:solidFill>
                          <a:latin typeface="Malgun Gothic"/>
                          <a:ea typeface="Malgun Gothic"/>
                        </a:rPr>
                        <a:t>책임 성찰</a:t>
                      </a:r>
                    </a:p>
                  </a:txBody>
                  <a:tcPr marL="91440" marR="91440" marT="45720" marB="45720" anchor="ctr">
                    <a:solidFill>
                      <a:srgbClr val="8E44AD"/>
                    </a:solidFill>
                  </a:tcPr>
                </a:tc>
                <a:tc>
                  <a:txBody>
                    <a:bodyPr wrap="square"/>
                    <a:lstStyle/>
                    <a:p>
                      <a:pPr algn="l"/>
                      <a:r>
                        <a:rPr sz="1200" b="0">
                          <a:solidFill>
                            <a:srgbClr val="333333"/>
                          </a:solidFill>
                          <a:latin typeface="Malgun Gothic"/>
                          <a:ea typeface="Malgun Gothic"/>
                        </a:rPr>
                        <a:t>최종 결과물에 대한 자신의 이해와
책임을 설명하는 정도</a:t>
                      </a:r>
                    </a:p>
                  </a:txBody>
                  <a:tcPr marL="91440" marR="91440" marT="45720" marB="45720" anchor="ctr">
                    <a:solidFill>
                      <a:srgbClr val="FFFFFF"/>
                    </a:solidFill>
                  </a:tcPr>
                </a:tc>
                <a:tc>
                  <a:txBody>
                    <a:bodyPr wrap="square"/>
                    <a:lstStyle/>
                    <a:p>
                      <a:pPr algn="ctr"/>
                      <a:r>
                        <a:rPr sz="1200" b="0">
                          <a:solidFill>
                            <a:srgbClr val="333333"/>
                          </a:solidFill>
                          <a:latin typeface="Malgun Gothic"/>
                          <a:ea typeface="Malgun Gothic"/>
                        </a:rPr>
                        <a:t>결과물에 대한 책임의 주체</a:t>
                      </a:r>
                    </a:p>
                  </a:txBody>
                  <a:tcPr marL="91440" marR="91440" marT="45720" marB="45720" anchor="ctr">
                    <a:solidFill>
                      <a:srgbClr val="EEE2F2"/>
                    </a:solidFill>
                  </a:tcPr>
                </a:tc>
              </a:tr>
            </a:tbl>
          </a:graphicData>
        </a:graphic>
      </p:graphicFrame>
      <p:sp>
        <p:nvSpPr>
          <p:cNvPr id="8" name="TextBox 7"/>
          <p:cNvSpPr txBox="1"/>
          <p:nvPr/>
        </p:nvSpPr>
        <p:spPr>
          <a:xfrm>
            <a:off x="457200" y="5852160"/>
            <a:ext cx="11247120" cy="411480"/>
          </a:xfrm>
          <a:prstGeom prst="rect">
            <a:avLst/>
          </a:prstGeom>
          <a:noFill/>
        </p:spPr>
        <p:txBody>
          <a:bodyPr wrap="square" lIns="45720" rIns="45720" tIns="18288" bIns="18288" anchor="t">
            <a:spAutoFit/>
          </a:bodyPr>
          <a:lstStyle/>
          <a:p>
            <a:pPr algn="l"/>
            <a:r>
              <a:rPr sz="1200" b="0">
                <a:solidFill>
                  <a:srgbClr val="666666"/>
                </a:solidFill>
                <a:latin typeface="Malgun Gothic"/>
                <a:ea typeface="Malgun Gothic"/>
              </a:rPr>
              <a:t>→ 네 차원은 독립된 단계가 아니라, AI 활용 학습 과정에서 시점에 따라 강조점이 달라지는 구성 요소이다.</a:t>
            </a:r>
          </a:p>
        </p:txBody>
      </p:sp>
      <p:sp>
        <p:nvSpPr>
          <p:cNvPr id="9" name="TextBox 8"/>
          <p:cNvSpPr txBox="1"/>
          <p:nvPr/>
        </p:nvSpPr>
        <p:spPr>
          <a:xfrm>
            <a:off x="457200" y="6446520"/>
            <a:ext cx="11247120" cy="320040"/>
          </a:xfrm>
          <a:prstGeom prst="rect">
            <a:avLst/>
          </a:prstGeom>
          <a:noFill/>
        </p:spPr>
        <p:txBody>
          <a:bodyPr wrap="square" lIns="45720" rIns="45720" tIns="18288" bIns="18288" anchor="t">
            <a:spAutoFit/>
          </a:bodyPr>
          <a:lstStyle/>
          <a:p>
            <a:pPr algn="l"/>
            <a:r>
              <a:rPr sz="1000" b="0">
                <a:solidFill>
                  <a:srgbClr val="666666"/>
                </a:solidFill>
                <a:latin typeface="Malgun Gothic"/>
                <a:ea typeface="Malgun Gothic"/>
              </a:rPr>
              <a:t>생성형 AI 활용 학습에서 사고 주도성과 메타인지적 조절 기제</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11480"/>
          </a:xfrm>
          <a:prstGeom prst="rect">
            <a:avLst/>
          </a:prstGeom>
          <a:solidFill>
            <a:srgbClr val="1F3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36576"/>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54864"/>
            <a:ext cx="9144000" cy="320040"/>
          </a:xfrm>
          <a:prstGeom prst="rect">
            <a:avLst/>
          </a:prstGeom>
          <a:noFill/>
        </p:spPr>
        <p:txBody>
          <a:bodyPr wrap="square" lIns="45720" rIns="45720" tIns="18288" bIns="18288" anchor="t">
            <a:spAutoFit/>
          </a:bodyPr>
          <a:lstStyle/>
          <a:p>
            <a:pPr algn="l"/>
            <a:r>
              <a:rPr sz="1400" b="1">
                <a:solidFill>
                  <a:srgbClr val="FFFFFF"/>
                </a:solidFill>
                <a:latin typeface="Malgun Gothic"/>
                <a:ea typeface="Malgun Gothic"/>
              </a:rPr>
              <a:t>Ⅳ. 조절 기제와 설계원리</a:t>
            </a:r>
          </a:p>
        </p:txBody>
      </p:sp>
      <p:sp>
        <p:nvSpPr>
          <p:cNvPr id="5" name="TextBox 4"/>
          <p:cNvSpPr txBox="1"/>
          <p:nvPr/>
        </p:nvSpPr>
        <p:spPr>
          <a:xfrm>
            <a:off x="10515600" y="54864"/>
            <a:ext cx="1554480" cy="320040"/>
          </a:xfrm>
          <a:prstGeom prst="rect">
            <a:avLst/>
          </a:prstGeom>
          <a:noFill/>
        </p:spPr>
        <p:txBody>
          <a:bodyPr wrap="square" lIns="45720" rIns="45720" tIns="18288" bIns="18288" anchor="t">
            <a:spAutoFit/>
          </a:bodyPr>
          <a:lstStyle/>
          <a:p>
            <a:pPr algn="r"/>
            <a:r>
              <a:rPr sz="1400" b="0">
                <a:solidFill>
                  <a:srgbClr val="E8EEF7"/>
                </a:solidFill>
                <a:latin typeface="Malgun Gothic"/>
                <a:ea typeface="Malgun Gothic"/>
              </a:rPr>
              <a:t>5 / 6</a:t>
            </a:r>
          </a:p>
        </p:txBody>
      </p:sp>
      <p:sp>
        <p:nvSpPr>
          <p:cNvPr id="6" name="TextBox 5"/>
          <p:cNvSpPr txBox="1"/>
          <p:nvPr/>
        </p:nvSpPr>
        <p:spPr>
          <a:xfrm>
            <a:off x="457200" y="594360"/>
            <a:ext cx="11247120" cy="640080"/>
          </a:xfrm>
          <a:prstGeom prst="rect">
            <a:avLst/>
          </a:prstGeom>
          <a:noFill/>
        </p:spPr>
        <p:txBody>
          <a:bodyPr wrap="square" lIns="45720" rIns="45720" tIns="18288" bIns="18288" anchor="t">
            <a:spAutoFit/>
          </a:bodyPr>
          <a:lstStyle/>
          <a:p>
            <a:pPr algn="l"/>
            <a:r>
              <a:rPr sz="3000" b="1">
                <a:solidFill>
                  <a:srgbClr val="1F365C"/>
                </a:solidFill>
                <a:latin typeface="Malgun Gothic"/>
                <a:ea typeface="Malgun Gothic"/>
              </a:rPr>
              <a:t>메타인지적 조절 기제 — 활용 전 · 중 · 후</a:t>
            </a:r>
          </a:p>
        </p:txBody>
      </p:sp>
      <p:sp>
        <p:nvSpPr>
          <p:cNvPr id="7" name="TextBox 6"/>
          <p:cNvSpPr txBox="1"/>
          <p:nvPr/>
        </p:nvSpPr>
        <p:spPr>
          <a:xfrm>
            <a:off x="457200" y="1463040"/>
            <a:ext cx="914400" cy="365760"/>
          </a:xfrm>
          <a:prstGeom prst="rect">
            <a:avLst/>
          </a:prstGeom>
          <a:noFill/>
        </p:spPr>
        <p:txBody>
          <a:bodyPr wrap="square" lIns="45720" rIns="45720" tIns="18288" bIns="18288" anchor="ctr">
            <a:spAutoFit/>
          </a:bodyPr>
          <a:lstStyle/>
          <a:p>
            <a:pPr algn="l"/>
            <a:r>
              <a:rPr sz="1200" b="1">
                <a:solidFill>
                  <a:srgbClr val="1F365C"/>
                </a:solidFill>
                <a:latin typeface="Malgun Gothic"/>
                <a:ea typeface="Malgun Gothic"/>
              </a:rPr>
              <a:t>시점</a:t>
            </a:r>
          </a:p>
        </p:txBody>
      </p:sp>
      <p:sp>
        <p:nvSpPr>
          <p:cNvPr id="8" name="Rounded Rectangle 7"/>
          <p:cNvSpPr/>
          <p:nvPr/>
        </p:nvSpPr>
        <p:spPr>
          <a:xfrm>
            <a:off x="1463040" y="1463040"/>
            <a:ext cx="2468880" cy="365760"/>
          </a:xfrm>
          <a:prstGeom prst="roundRect">
            <a:avLst>
              <a:gd name="adj" fmla="val 10000"/>
            </a:avLst>
          </a:prstGeom>
          <a:solidFill>
            <a:srgbClr val="1F3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63040" y="1499616"/>
            <a:ext cx="2468880" cy="329184"/>
          </a:xfrm>
          <a:prstGeom prst="rect">
            <a:avLst/>
          </a:prstGeom>
          <a:noFill/>
        </p:spPr>
        <p:txBody>
          <a:bodyPr wrap="square" lIns="45720" rIns="45720" tIns="18288" bIns="18288" anchor="ctr">
            <a:spAutoFit/>
          </a:bodyPr>
          <a:lstStyle/>
          <a:p>
            <a:pPr algn="ctr"/>
            <a:r>
              <a:rPr sz="1200" b="1">
                <a:solidFill>
                  <a:srgbClr val="FFFFFF"/>
                </a:solidFill>
                <a:latin typeface="Malgun Gothic"/>
                <a:ea typeface="Malgun Gothic"/>
              </a:rPr>
              <a:t>활용 전</a:t>
            </a:r>
          </a:p>
        </p:txBody>
      </p:sp>
      <p:sp>
        <p:nvSpPr>
          <p:cNvPr id="10" name="Rounded Rectangle 9"/>
          <p:cNvSpPr/>
          <p:nvPr/>
        </p:nvSpPr>
        <p:spPr>
          <a:xfrm>
            <a:off x="4114800" y="1463040"/>
            <a:ext cx="2468880" cy="365760"/>
          </a:xfrm>
          <a:prstGeom prst="roundRect">
            <a:avLst>
              <a:gd name="adj" fmla="val 10000"/>
            </a:avLst>
          </a:prstGeom>
          <a:solidFill>
            <a:srgbClr val="1F3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0" y="1499616"/>
            <a:ext cx="2468880" cy="329184"/>
          </a:xfrm>
          <a:prstGeom prst="rect">
            <a:avLst/>
          </a:prstGeom>
          <a:noFill/>
        </p:spPr>
        <p:txBody>
          <a:bodyPr wrap="square" lIns="45720" rIns="45720" tIns="18288" bIns="18288" anchor="ctr">
            <a:spAutoFit/>
          </a:bodyPr>
          <a:lstStyle/>
          <a:p>
            <a:pPr algn="ctr"/>
            <a:r>
              <a:rPr sz="1200" b="1">
                <a:solidFill>
                  <a:srgbClr val="FFFFFF"/>
                </a:solidFill>
                <a:latin typeface="Malgun Gothic"/>
                <a:ea typeface="Malgun Gothic"/>
              </a:rPr>
              <a:t>활용 중</a:t>
            </a:r>
          </a:p>
        </p:txBody>
      </p:sp>
      <p:sp>
        <p:nvSpPr>
          <p:cNvPr id="12" name="Rounded Rectangle 11"/>
          <p:cNvSpPr/>
          <p:nvPr/>
        </p:nvSpPr>
        <p:spPr>
          <a:xfrm>
            <a:off x="6766560" y="1463040"/>
            <a:ext cx="2468880" cy="365760"/>
          </a:xfrm>
          <a:prstGeom prst="roundRect">
            <a:avLst>
              <a:gd name="adj" fmla="val 10000"/>
            </a:avLst>
          </a:prstGeom>
          <a:solidFill>
            <a:srgbClr val="1F3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66560" y="1499616"/>
            <a:ext cx="2468880" cy="329184"/>
          </a:xfrm>
          <a:prstGeom prst="rect">
            <a:avLst/>
          </a:prstGeom>
          <a:noFill/>
        </p:spPr>
        <p:txBody>
          <a:bodyPr wrap="square" lIns="45720" rIns="45720" tIns="18288" bIns="18288" anchor="ctr">
            <a:spAutoFit/>
          </a:bodyPr>
          <a:lstStyle/>
          <a:p>
            <a:pPr algn="ctr"/>
            <a:r>
              <a:rPr sz="1200" b="1">
                <a:solidFill>
                  <a:srgbClr val="FFFFFF"/>
                </a:solidFill>
                <a:latin typeface="Malgun Gothic"/>
                <a:ea typeface="Malgun Gothic"/>
              </a:rPr>
              <a:t>활용 후</a:t>
            </a:r>
          </a:p>
        </p:txBody>
      </p:sp>
      <p:sp>
        <p:nvSpPr>
          <p:cNvPr id="14" name="Rounded Rectangle 13"/>
          <p:cNvSpPr/>
          <p:nvPr/>
        </p:nvSpPr>
        <p:spPr>
          <a:xfrm>
            <a:off x="9418320" y="1463040"/>
            <a:ext cx="2286000" cy="365760"/>
          </a:xfrm>
          <a:prstGeom prst="roundRect">
            <a:avLst>
              <a:gd name="adj" fmla="val 10000"/>
            </a:avLst>
          </a:prstGeom>
          <a:solidFill>
            <a:srgbClr val="1F3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418320" y="1499616"/>
            <a:ext cx="2286000" cy="329184"/>
          </a:xfrm>
          <a:prstGeom prst="rect">
            <a:avLst/>
          </a:prstGeom>
          <a:noFill/>
        </p:spPr>
        <p:txBody>
          <a:bodyPr wrap="square" lIns="45720" rIns="45720" tIns="18288" bIns="18288" anchor="ctr">
            <a:spAutoFit/>
          </a:bodyPr>
          <a:lstStyle/>
          <a:p>
            <a:pPr algn="ctr"/>
            <a:r>
              <a:rPr sz="1200" b="1">
                <a:solidFill>
                  <a:srgbClr val="FFFFFF"/>
                </a:solidFill>
                <a:latin typeface="Malgun Gothic"/>
                <a:ea typeface="Malgun Gothic"/>
              </a:rPr>
              <a:t>최종</a:t>
            </a:r>
          </a:p>
        </p:txBody>
      </p:sp>
      <p:graphicFrame>
        <p:nvGraphicFramePr>
          <p:cNvPr id="16" name="Table 15"/>
          <p:cNvGraphicFramePr>
            <a:graphicFrameLocks noGrp="1"/>
          </p:cNvGraphicFramePr>
          <p:nvPr/>
        </p:nvGraphicFramePr>
        <p:xfrm>
          <a:off x="457200" y="2103120"/>
          <a:ext cx="11247120" cy="3977640"/>
        </p:xfrm>
        <a:graphic>
          <a:graphicData uri="http://schemas.openxmlformats.org/drawingml/2006/table">
            <a:tbl>
              <a:tblPr firstRow="1" bandRow="1">
                <a:tableStyleId>{5C22544A-7EE6-4342-B048-85BDC9FD1C3A}</a:tableStyleId>
              </a:tblPr>
              <a:tblGrid>
                <a:gridCol w="1463040"/>
                <a:gridCol w="2194560"/>
                <a:gridCol w="3931920"/>
                <a:gridCol w="3657600"/>
              </a:tblGrid>
              <a:tr h="502920">
                <a:tc>
                  <a:txBody>
                    <a:bodyPr wrap="square"/>
                    <a:lstStyle/>
                    <a:p>
                      <a:pPr algn="ctr"/>
                      <a:r>
                        <a:rPr sz="1300" b="1">
                          <a:solidFill>
                            <a:srgbClr val="FFFFFF"/>
                          </a:solidFill>
                          <a:latin typeface="Malgun Gothic"/>
                          <a:ea typeface="Malgun Gothic"/>
                        </a:rPr>
                        <a:t>사고 주도성 차원</a:t>
                      </a:r>
                    </a:p>
                  </a:txBody>
                  <a:tcPr marL="91440" marR="91440" marT="45720" marB="45720" anchor="ctr">
                    <a:solidFill>
                      <a:srgbClr val="1F365C"/>
                    </a:solidFill>
                  </a:tcPr>
                </a:tc>
                <a:tc>
                  <a:txBody>
                    <a:bodyPr wrap="square"/>
                    <a:lstStyle/>
                    <a:p>
                      <a:pPr algn="ctr"/>
                      <a:r>
                        <a:rPr sz="1300" b="1">
                          <a:solidFill>
                            <a:srgbClr val="FFFFFF"/>
                          </a:solidFill>
                          <a:latin typeface="Malgun Gothic"/>
                          <a:ea typeface="Malgun Gothic"/>
                        </a:rPr>
                        <a:t>조절 기제</a:t>
                      </a:r>
                    </a:p>
                  </a:txBody>
                  <a:tcPr marL="91440" marR="91440" marT="45720" marB="45720" anchor="ctr">
                    <a:solidFill>
                      <a:srgbClr val="1F365C"/>
                    </a:solidFill>
                  </a:tcPr>
                </a:tc>
                <a:tc>
                  <a:txBody>
                    <a:bodyPr wrap="square"/>
                    <a:lstStyle/>
                    <a:p>
                      <a:pPr algn="ctr"/>
                      <a:r>
                        <a:rPr sz="1300" b="1">
                          <a:solidFill>
                            <a:srgbClr val="FFFFFF"/>
                          </a:solidFill>
                          <a:latin typeface="Malgun Gothic"/>
                          <a:ea typeface="Malgun Gothic"/>
                        </a:rPr>
                        <a:t>핵심 점검 질문</a:t>
                      </a:r>
                    </a:p>
                  </a:txBody>
                  <a:tcPr marL="91440" marR="91440" marT="45720" marB="45720" anchor="ctr">
                    <a:solidFill>
                      <a:srgbClr val="1F365C"/>
                    </a:solidFill>
                  </a:tcPr>
                </a:tc>
                <a:tc>
                  <a:txBody>
                    <a:bodyPr wrap="square"/>
                    <a:lstStyle/>
                    <a:p>
                      <a:pPr algn="ctr"/>
                      <a:r>
                        <a:rPr sz="1300" b="1">
                          <a:solidFill>
                            <a:srgbClr val="FFFFFF"/>
                          </a:solidFill>
                          <a:latin typeface="Malgun Gothic"/>
                          <a:ea typeface="Malgun Gothic"/>
                        </a:rPr>
                        <a:t>수업 적용 및 확인 자료</a:t>
                      </a:r>
                    </a:p>
                  </a:txBody>
                  <a:tcPr marL="91440" marR="91440" marT="45720" marB="45720" anchor="ctr">
                    <a:solidFill>
                      <a:srgbClr val="1F365C"/>
                    </a:solidFill>
                  </a:tcPr>
                </a:tc>
              </a:tr>
              <a:tr h="868680">
                <a:tc>
                  <a:txBody>
                    <a:bodyPr wrap="square"/>
                    <a:lstStyle/>
                    <a:p>
                      <a:pPr algn="ctr"/>
                      <a:r>
                        <a:rPr sz="1300" b="1">
                          <a:solidFill>
                            <a:srgbClr val="FFFFFF"/>
                          </a:solidFill>
                          <a:latin typeface="Malgun Gothic"/>
                          <a:ea typeface="Malgun Gothic"/>
                        </a:rPr>
                        <a:t>문제 이해</a:t>
                      </a:r>
                    </a:p>
                  </a:txBody>
                  <a:tcPr marL="91440" marR="91440" marT="45720" marB="45720" anchor="ctr">
                    <a:solidFill>
                      <a:srgbClr val="2E86AB"/>
                    </a:solidFill>
                  </a:tcPr>
                </a:tc>
                <a:tc>
                  <a:txBody>
                    <a:bodyPr wrap="square"/>
                    <a:lstStyle/>
                    <a:p>
                      <a:pPr algn="l"/>
                      <a:r>
                        <a:rPr sz="1200" b="1">
                          <a:solidFill>
                            <a:srgbClr val="2E86AB"/>
                          </a:solidFill>
                          <a:latin typeface="Malgun Gothic"/>
                          <a:ea typeface="Malgun Gothic"/>
                        </a:rPr>
                        <a:t>활용 전 자기점검</a:t>
                      </a:r>
                    </a:p>
                  </a:txBody>
                  <a:tcPr marL="91440" marR="91440" marT="45720" marB="45720" anchor="ctr">
                    <a:solidFill>
                      <a:srgbClr val="E3EFF6"/>
                    </a:solidFill>
                  </a:tcPr>
                </a:tc>
                <a:tc>
                  <a:txBody>
                    <a:bodyPr wrap="square"/>
                    <a:lstStyle/>
                    <a:p>
                      <a:pPr algn="l"/>
                      <a:r>
                        <a:rPr sz="1100" b="0">
                          <a:solidFill>
                            <a:srgbClr val="333333"/>
                          </a:solidFill>
                          <a:latin typeface="Malgun Gothic"/>
                          <a:ea typeface="Malgun Gothic"/>
                        </a:rPr>
                        <a:t>나는 이 과제에서
무엇을 알고, 무엇을 모르는가?</a:t>
                      </a:r>
                    </a:p>
                  </a:txBody>
                  <a:tcPr marL="91440" marR="91440" marT="45720" marB="45720" anchor="ctr">
                    <a:solidFill>
                      <a:srgbClr val="FFFFFF"/>
                    </a:solidFill>
                  </a:tcPr>
                </a:tc>
                <a:tc>
                  <a:txBody>
                    <a:bodyPr wrap="square"/>
                    <a:lstStyle/>
                    <a:p>
                      <a:pPr algn="l"/>
                      <a:r>
                        <a:rPr sz="1100" b="0">
                          <a:solidFill>
                            <a:srgbClr val="333333"/>
                          </a:solidFill>
                          <a:latin typeface="Malgun Gothic"/>
                          <a:ea typeface="Malgun Gothic"/>
                        </a:rPr>
                        <a:t>사전 문제·가설 작성, 질문 작성</a:t>
                      </a:r>
                    </a:p>
                  </a:txBody>
                  <a:tcPr marL="91440" marR="91440" marT="45720" marB="45720" anchor="ctr">
                    <a:solidFill>
                      <a:srgbClr val="FFFFFF"/>
                    </a:solidFill>
                  </a:tcPr>
                </a:tc>
              </a:tr>
              <a:tr h="868680">
                <a:tc>
                  <a:txBody>
                    <a:bodyPr wrap="square"/>
                    <a:lstStyle/>
                    <a:p>
                      <a:pPr algn="ctr"/>
                      <a:r>
                        <a:rPr sz="1300" b="1">
                          <a:solidFill>
                            <a:srgbClr val="FFFFFF"/>
                          </a:solidFill>
                          <a:latin typeface="Malgun Gothic"/>
                          <a:ea typeface="Malgun Gothic"/>
                        </a:rPr>
                        <a:t>위임 인식</a:t>
                      </a:r>
                    </a:p>
                  </a:txBody>
                  <a:tcPr marL="91440" marR="91440" marT="45720" marB="45720" anchor="ctr">
                    <a:solidFill>
                      <a:srgbClr val="3E9953"/>
                    </a:solidFill>
                  </a:tcPr>
                </a:tc>
                <a:tc>
                  <a:txBody>
                    <a:bodyPr wrap="square"/>
                    <a:lstStyle/>
                    <a:p>
                      <a:pPr algn="l"/>
                      <a:r>
                        <a:rPr sz="1200" b="1">
                          <a:solidFill>
                            <a:srgbClr val="3E9953"/>
                          </a:solidFill>
                          <a:latin typeface="Malgun Gothic"/>
                          <a:ea typeface="Malgun Gothic"/>
                        </a:rPr>
                        <a:t>활용 중 위임 점검</a:t>
                      </a:r>
                    </a:p>
                  </a:txBody>
                  <a:tcPr marL="91440" marR="91440" marT="45720" marB="45720" anchor="ctr">
                    <a:solidFill>
                      <a:srgbClr val="E3F1E6"/>
                    </a:solidFill>
                  </a:tcPr>
                </a:tc>
                <a:tc>
                  <a:txBody>
                    <a:bodyPr wrap="square"/>
                    <a:lstStyle/>
                    <a:p>
                      <a:pPr algn="l"/>
                      <a:r>
                        <a:rPr sz="1100" b="0">
                          <a:solidFill>
                            <a:srgbClr val="333333"/>
                          </a:solidFill>
                          <a:latin typeface="Malgun Gothic"/>
                          <a:ea typeface="Malgun Gothic"/>
                        </a:rPr>
                        <a:t>내가 직접 생각한 부분과
AI가 대신한 부분은 무엇인가?</a:t>
                      </a:r>
                    </a:p>
                  </a:txBody>
                  <a:tcPr marL="91440" marR="91440" marT="45720" marB="45720" anchor="ctr">
                    <a:solidFill>
                      <a:srgbClr val="FFFFFF"/>
                    </a:solidFill>
                  </a:tcPr>
                </a:tc>
                <a:tc>
                  <a:txBody>
                    <a:bodyPr wrap="square"/>
                    <a:lstStyle/>
                    <a:p>
                      <a:pPr algn="l"/>
                      <a:r>
                        <a:rPr sz="1100" b="0">
                          <a:solidFill>
                            <a:srgbClr val="333333"/>
                          </a:solidFill>
                          <a:latin typeface="Malgun Gothic"/>
                          <a:ea typeface="Malgun Gothic"/>
                        </a:rPr>
                        <a:t>AI 위임표, 프롬프트 로그</a:t>
                      </a:r>
                    </a:p>
                  </a:txBody>
                  <a:tcPr marL="91440" marR="91440" marT="45720" marB="45720" anchor="ctr">
                    <a:solidFill>
                      <a:srgbClr val="FFFFFF"/>
                    </a:solidFill>
                  </a:tcPr>
                </a:tc>
              </a:tr>
              <a:tr h="868680">
                <a:tc>
                  <a:txBody>
                    <a:bodyPr wrap="square"/>
                    <a:lstStyle/>
                    <a:p>
                      <a:pPr algn="ctr"/>
                      <a:r>
                        <a:rPr sz="1300" b="1">
                          <a:solidFill>
                            <a:srgbClr val="FFFFFF"/>
                          </a:solidFill>
                          <a:latin typeface="Malgun Gothic"/>
                          <a:ea typeface="Malgun Gothic"/>
                        </a:rPr>
                        <a:t>검증 판단</a:t>
                      </a:r>
                    </a:p>
                  </a:txBody>
                  <a:tcPr marL="91440" marR="91440" marT="45720" marB="45720" anchor="ctr">
                    <a:solidFill>
                      <a:srgbClr val="E67E22"/>
                    </a:solidFill>
                  </a:tcPr>
                </a:tc>
                <a:tc>
                  <a:txBody>
                    <a:bodyPr wrap="square"/>
                    <a:lstStyle/>
                    <a:p>
                      <a:pPr algn="l"/>
                      <a:r>
                        <a:rPr sz="1200" b="1">
                          <a:solidFill>
                            <a:srgbClr val="E67E22"/>
                          </a:solidFill>
                          <a:latin typeface="Malgun Gothic"/>
                          <a:ea typeface="Malgun Gothic"/>
                        </a:rPr>
                        <a:t>활용 후 검증 점검</a:t>
                      </a:r>
                    </a:p>
                  </a:txBody>
                  <a:tcPr marL="91440" marR="91440" marT="45720" marB="45720" anchor="ctr">
                    <a:solidFill>
                      <a:srgbClr val="FBECDC"/>
                    </a:solidFill>
                  </a:tcPr>
                </a:tc>
                <a:tc>
                  <a:txBody>
                    <a:bodyPr wrap="square"/>
                    <a:lstStyle/>
                    <a:p>
                      <a:pPr algn="l"/>
                      <a:r>
                        <a:rPr sz="1100" b="0">
                          <a:solidFill>
                            <a:srgbClr val="333333"/>
                          </a:solidFill>
                          <a:latin typeface="Malgun Gothic"/>
                          <a:ea typeface="Malgun Gothic"/>
                        </a:rPr>
                        <a:t>이 결과를 믿을 수 있는
근거는 무엇인가?</a:t>
                      </a:r>
                    </a:p>
                  </a:txBody>
                  <a:tcPr marL="91440" marR="91440" marT="45720" marB="45720" anchor="ctr">
                    <a:solidFill>
                      <a:srgbClr val="FFFFFF"/>
                    </a:solidFill>
                  </a:tcPr>
                </a:tc>
                <a:tc>
                  <a:txBody>
                    <a:bodyPr wrap="square"/>
                    <a:lstStyle/>
                    <a:p>
                      <a:pPr algn="l"/>
                      <a:r>
                        <a:rPr sz="1100" b="0">
                          <a:solidFill>
                            <a:srgbClr val="333333"/>
                          </a:solidFill>
                          <a:latin typeface="Malgun Gothic"/>
                          <a:ea typeface="Malgun Gothic"/>
                        </a:rPr>
                        <a:t>오류검증표, 출처 확인, 코드·문장 검토</a:t>
                      </a:r>
                    </a:p>
                  </a:txBody>
                  <a:tcPr marL="91440" marR="91440" marT="45720" marB="45720" anchor="ctr">
                    <a:solidFill>
                      <a:srgbClr val="FFFFFF"/>
                    </a:solidFill>
                  </a:tcPr>
                </a:tc>
              </a:tr>
              <a:tr h="868680">
                <a:tc>
                  <a:txBody>
                    <a:bodyPr wrap="square"/>
                    <a:lstStyle/>
                    <a:p>
                      <a:pPr algn="ctr"/>
                      <a:r>
                        <a:rPr sz="1300" b="1">
                          <a:solidFill>
                            <a:srgbClr val="FFFFFF"/>
                          </a:solidFill>
                          <a:latin typeface="Malgun Gothic"/>
                          <a:ea typeface="Malgun Gothic"/>
                        </a:rPr>
                        <a:t>책임 성찰</a:t>
                      </a:r>
                    </a:p>
                  </a:txBody>
                  <a:tcPr marL="91440" marR="91440" marT="45720" marB="45720" anchor="ctr">
                    <a:solidFill>
                      <a:srgbClr val="8E44AD"/>
                    </a:solidFill>
                  </a:tcPr>
                </a:tc>
                <a:tc>
                  <a:txBody>
                    <a:bodyPr wrap="square"/>
                    <a:lstStyle/>
                    <a:p>
                      <a:pPr algn="l"/>
                      <a:r>
                        <a:rPr sz="1200" b="1">
                          <a:solidFill>
                            <a:srgbClr val="8E44AD"/>
                          </a:solidFill>
                          <a:latin typeface="Malgun Gothic"/>
                          <a:ea typeface="Malgun Gothic"/>
                        </a:rPr>
                        <a:t>최종 책임 성찰</a:t>
                      </a:r>
                    </a:p>
                  </a:txBody>
                  <a:tcPr marL="91440" marR="91440" marT="45720" marB="45720" anchor="ctr">
                    <a:solidFill>
                      <a:srgbClr val="EEE2F2"/>
                    </a:solidFill>
                  </a:tcPr>
                </a:tc>
                <a:tc>
                  <a:txBody>
                    <a:bodyPr wrap="square"/>
                    <a:lstStyle/>
                    <a:p>
                      <a:pPr algn="l"/>
                      <a:r>
                        <a:rPr sz="1100" b="0">
                          <a:solidFill>
                            <a:srgbClr val="333333"/>
                          </a:solidFill>
                          <a:latin typeface="Malgun Gothic"/>
                          <a:ea typeface="Malgun Gothic"/>
                        </a:rPr>
                        <a:t>나는 이 결과물을 내 언어로
설명하고 책임질 수 있는가?</a:t>
                      </a:r>
                    </a:p>
                  </a:txBody>
                  <a:tcPr marL="91440" marR="91440" marT="45720" marB="45720" anchor="ctr">
                    <a:solidFill>
                      <a:srgbClr val="FFFFFF"/>
                    </a:solidFill>
                  </a:tcPr>
                </a:tc>
                <a:tc>
                  <a:txBody>
                    <a:bodyPr wrap="square"/>
                    <a:lstStyle/>
                    <a:p>
                      <a:pPr algn="l"/>
                      <a:r>
                        <a:rPr sz="1100" b="0">
                          <a:solidFill>
                            <a:srgbClr val="333333"/>
                          </a:solidFill>
                          <a:latin typeface="Malgun Gothic"/>
                          <a:ea typeface="Malgun Gothic"/>
                        </a:rPr>
                        <a:t>성찰문, 발표 전 자기점검,
AI 활용 범위 진술</a:t>
                      </a:r>
                    </a:p>
                  </a:txBody>
                  <a:tcPr marL="91440" marR="91440" marT="45720" marB="45720" anchor="ctr">
                    <a:solidFill>
                      <a:srgbClr val="FFFFFF"/>
                    </a:solidFill>
                  </a:tcPr>
                </a:tc>
              </a:tr>
            </a:tbl>
          </a:graphicData>
        </a:graphic>
      </p:graphicFrame>
      <p:sp>
        <p:nvSpPr>
          <p:cNvPr id="17" name="TextBox 16"/>
          <p:cNvSpPr txBox="1"/>
          <p:nvPr/>
        </p:nvSpPr>
        <p:spPr>
          <a:xfrm>
            <a:off x="457200" y="5943600"/>
            <a:ext cx="11247120" cy="411480"/>
          </a:xfrm>
          <a:prstGeom prst="rect">
            <a:avLst/>
          </a:prstGeom>
          <a:noFill/>
        </p:spPr>
        <p:txBody>
          <a:bodyPr wrap="square" lIns="45720" rIns="45720" tIns="18288" bIns="18288" anchor="t">
            <a:spAutoFit/>
          </a:bodyPr>
          <a:lstStyle/>
          <a:p>
            <a:pPr algn="l"/>
            <a:r>
              <a:rPr sz="1200" b="0">
                <a:solidFill>
                  <a:srgbClr val="666666"/>
                </a:solidFill>
                <a:latin typeface="Malgun Gothic"/>
                <a:ea typeface="Malgun Gothic"/>
              </a:rPr>
              <a:t>→ Schraw·Dennison(1994)의 계획·점검·평가와 Zimmerman(2002)의 사전숙고–수행–자기성찰 순환에 대응.</a:t>
            </a:r>
          </a:p>
        </p:txBody>
      </p:sp>
      <p:sp>
        <p:nvSpPr>
          <p:cNvPr id="18" name="TextBox 17"/>
          <p:cNvSpPr txBox="1"/>
          <p:nvPr/>
        </p:nvSpPr>
        <p:spPr>
          <a:xfrm>
            <a:off x="457200" y="6446520"/>
            <a:ext cx="11247120" cy="320040"/>
          </a:xfrm>
          <a:prstGeom prst="rect">
            <a:avLst/>
          </a:prstGeom>
          <a:noFill/>
        </p:spPr>
        <p:txBody>
          <a:bodyPr wrap="square" lIns="45720" rIns="45720" tIns="18288" bIns="18288" anchor="t">
            <a:spAutoFit/>
          </a:bodyPr>
          <a:lstStyle/>
          <a:p>
            <a:pPr algn="l"/>
            <a:r>
              <a:rPr sz="1000" b="0">
                <a:solidFill>
                  <a:srgbClr val="666666"/>
                </a:solidFill>
                <a:latin typeface="Malgun Gothic"/>
                <a:ea typeface="Malgun Gothic"/>
              </a:rPr>
              <a:t>생성형 AI 활용 학습에서 사고 주도성과 메타인지적 조절 기제</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11480"/>
          </a:xfrm>
          <a:prstGeom prst="rect">
            <a:avLst/>
          </a:prstGeom>
          <a:solidFill>
            <a:srgbClr val="1F3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36576"/>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54864"/>
            <a:ext cx="9144000" cy="320040"/>
          </a:xfrm>
          <a:prstGeom prst="rect">
            <a:avLst/>
          </a:prstGeom>
          <a:noFill/>
        </p:spPr>
        <p:txBody>
          <a:bodyPr wrap="square" lIns="45720" rIns="45720" tIns="18288" bIns="18288" anchor="t">
            <a:spAutoFit/>
          </a:bodyPr>
          <a:lstStyle/>
          <a:p>
            <a:pPr algn="l"/>
            <a:r>
              <a:rPr sz="1400" b="1">
                <a:solidFill>
                  <a:srgbClr val="FFFFFF"/>
                </a:solidFill>
                <a:latin typeface="Malgun Gothic"/>
                <a:ea typeface="Malgun Gothic"/>
              </a:rPr>
              <a:t>Ⅴ. 결론</a:t>
            </a:r>
          </a:p>
        </p:txBody>
      </p:sp>
      <p:sp>
        <p:nvSpPr>
          <p:cNvPr id="5" name="TextBox 4"/>
          <p:cNvSpPr txBox="1"/>
          <p:nvPr/>
        </p:nvSpPr>
        <p:spPr>
          <a:xfrm>
            <a:off x="10515600" y="54864"/>
            <a:ext cx="1554480" cy="320040"/>
          </a:xfrm>
          <a:prstGeom prst="rect">
            <a:avLst/>
          </a:prstGeom>
          <a:noFill/>
        </p:spPr>
        <p:txBody>
          <a:bodyPr wrap="square" lIns="45720" rIns="45720" tIns="18288" bIns="18288" anchor="t">
            <a:spAutoFit/>
          </a:bodyPr>
          <a:lstStyle/>
          <a:p>
            <a:pPr algn="r"/>
            <a:r>
              <a:rPr sz="1400" b="0">
                <a:solidFill>
                  <a:srgbClr val="E8EEF7"/>
                </a:solidFill>
                <a:latin typeface="Malgun Gothic"/>
                <a:ea typeface="Malgun Gothic"/>
              </a:rPr>
              <a:t>6 / 6</a:t>
            </a:r>
          </a:p>
        </p:txBody>
      </p:sp>
      <p:sp>
        <p:nvSpPr>
          <p:cNvPr id="6" name="TextBox 5"/>
          <p:cNvSpPr txBox="1"/>
          <p:nvPr/>
        </p:nvSpPr>
        <p:spPr>
          <a:xfrm>
            <a:off x="457200" y="594360"/>
            <a:ext cx="11247120" cy="640080"/>
          </a:xfrm>
          <a:prstGeom prst="rect">
            <a:avLst/>
          </a:prstGeom>
          <a:noFill/>
        </p:spPr>
        <p:txBody>
          <a:bodyPr wrap="square" lIns="45720" rIns="45720" tIns="18288" bIns="18288" anchor="t">
            <a:spAutoFit/>
          </a:bodyPr>
          <a:lstStyle/>
          <a:p>
            <a:pPr algn="l"/>
            <a:r>
              <a:rPr sz="3000" b="1">
                <a:solidFill>
                  <a:srgbClr val="1F365C"/>
                </a:solidFill>
                <a:latin typeface="Malgun Gothic"/>
                <a:ea typeface="Malgun Gothic"/>
              </a:rPr>
              <a:t>결론과 후속 연구</a:t>
            </a:r>
          </a:p>
        </p:txBody>
      </p:sp>
      <p:sp>
        <p:nvSpPr>
          <p:cNvPr id="7" name="Rounded Rectangle 6"/>
          <p:cNvSpPr/>
          <p:nvPr/>
        </p:nvSpPr>
        <p:spPr>
          <a:xfrm>
            <a:off x="457200" y="1417320"/>
            <a:ext cx="3703320" cy="2377440"/>
          </a:xfrm>
          <a:prstGeom prst="roundRect">
            <a:avLst>
              <a:gd name="adj" fmla="val 10000"/>
            </a:avLst>
          </a:prstGeom>
          <a:solidFill>
            <a:srgbClr val="FFFFFF"/>
          </a:solidFill>
          <a:ln w="12700">
            <a:solidFill>
              <a:srgbClr val="1F36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417320"/>
            <a:ext cx="3703320" cy="502920"/>
          </a:xfrm>
          <a:prstGeom prst="rect">
            <a:avLst/>
          </a:prstGeom>
          <a:solidFill>
            <a:srgbClr val="1F3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481328"/>
            <a:ext cx="3520440" cy="411480"/>
          </a:xfrm>
          <a:prstGeom prst="rect">
            <a:avLst/>
          </a:prstGeom>
          <a:noFill/>
        </p:spPr>
        <p:txBody>
          <a:bodyPr wrap="square" lIns="45720" rIns="45720" tIns="18288" bIns="18288" anchor="t">
            <a:spAutoFit/>
          </a:bodyPr>
          <a:lstStyle/>
          <a:p>
            <a:pPr algn="l"/>
            <a:r>
              <a:rPr sz="1500" b="1">
                <a:solidFill>
                  <a:srgbClr val="FFFFFF"/>
                </a:solidFill>
                <a:latin typeface="Malgun Gothic"/>
                <a:ea typeface="Malgun Gothic"/>
              </a:rPr>
              <a:t>결론</a:t>
            </a:r>
          </a:p>
        </p:txBody>
      </p:sp>
      <p:sp>
        <p:nvSpPr>
          <p:cNvPr id="10" name="TextBox 9"/>
          <p:cNvSpPr txBox="1"/>
          <p:nvPr/>
        </p:nvSpPr>
        <p:spPr>
          <a:xfrm>
            <a:off x="640080" y="2057400"/>
            <a:ext cx="3337560" cy="1645920"/>
          </a:xfrm>
          <a:prstGeom prst="rect">
            <a:avLst/>
          </a:prstGeom>
          <a:noFill/>
        </p:spPr>
        <p:txBody>
          <a:bodyPr wrap="square" lIns="45720" rIns="45720" tIns="18288" bIns="18288" anchor="t">
            <a:spAutoFit/>
          </a:bodyPr>
          <a:lstStyle/>
          <a:p>
            <a:pPr algn="l"/>
            <a:r>
              <a:rPr sz="1200" b="0">
                <a:solidFill>
                  <a:srgbClr val="333333"/>
                </a:solidFill>
                <a:latin typeface="Malgun Gothic"/>
                <a:ea typeface="Malgun Gothic"/>
              </a:rPr>
              <a:t>AI 활용 학습의 설계 논의를
‘산출물 중심’에서
‘사고 과정 중심’으로 전환.
사고 주도성 4차원과
메타인지적 조절 기제 4종을 제안.</a:t>
            </a:r>
          </a:p>
        </p:txBody>
      </p:sp>
      <p:sp>
        <p:nvSpPr>
          <p:cNvPr id="11" name="Rounded Rectangle 10"/>
          <p:cNvSpPr/>
          <p:nvPr/>
        </p:nvSpPr>
        <p:spPr>
          <a:xfrm>
            <a:off x="4297680" y="1417320"/>
            <a:ext cx="3703320" cy="2377440"/>
          </a:xfrm>
          <a:prstGeom prst="roundRect">
            <a:avLst>
              <a:gd name="adj" fmla="val 10000"/>
            </a:avLst>
          </a:prstGeom>
          <a:solidFill>
            <a:srgbClr val="FFFFFF"/>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97680" y="1417320"/>
            <a:ext cx="3703320" cy="5029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0560" y="1481328"/>
            <a:ext cx="3520440" cy="411480"/>
          </a:xfrm>
          <a:prstGeom prst="rect">
            <a:avLst/>
          </a:prstGeom>
          <a:noFill/>
        </p:spPr>
        <p:txBody>
          <a:bodyPr wrap="square" lIns="45720" rIns="45720" tIns="18288" bIns="18288" anchor="t">
            <a:spAutoFit/>
          </a:bodyPr>
          <a:lstStyle/>
          <a:p>
            <a:pPr algn="l"/>
            <a:r>
              <a:rPr sz="1500" b="1">
                <a:solidFill>
                  <a:srgbClr val="FFFFFF"/>
                </a:solidFill>
                <a:latin typeface="Malgun Gothic"/>
                <a:ea typeface="Malgun Gothic"/>
              </a:rPr>
              <a:t>후속 연구 절차</a:t>
            </a:r>
          </a:p>
        </p:txBody>
      </p:sp>
      <p:sp>
        <p:nvSpPr>
          <p:cNvPr id="14" name="TextBox 13"/>
          <p:cNvSpPr txBox="1"/>
          <p:nvPr/>
        </p:nvSpPr>
        <p:spPr>
          <a:xfrm>
            <a:off x="4480560" y="2057400"/>
            <a:ext cx="3337560" cy="1645920"/>
          </a:xfrm>
          <a:prstGeom prst="rect">
            <a:avLst/>
          </a:prstGeom>
          <a:noFill/>
        </p:spPr>
        <p:txBody>
          <a:bodyPr wrap="square" lIns="45720" rIns="45720" tIns="18288" bIns="18288" anchor="t">
            <a:spAutoFit/>
          </a:bodyPr>
          <a:lstStyle/>
          <a:p>
            <a:pPr algn="l"/>
            <a:r>
              <a:rPr sz="1200" b="0">
                <a:solidFill>
                  <a:srgbClr val="333333"/>
                </a:solidFill>
                <a:latin typeface="Malgun Gothic"/>
                <a:ea typeface="Malgun Gothic"/>
              </a:rPr>
              <a:t>① 조절 기제를 문항·활동지로 개발
② 전문가 검토를 통한
   타당성 확인 (델파이 등)
③ 실제 학습 현장 적용·효과 검증</a:t>
            </a:r>
          </a:p>
        </p:txBody>
      </p:sp>
      <p:sp>
        <p:nvSpPr>
          <p:cNvPr id="15" name="Rounded Rectangle 14"/>
          <p:cNvSpPr/>
          <p:nvPr/>
        </p:nvSpPr>
        <p:spPr>
          <a:xfrm>
            <a:off x="8138160" y="1417320"/>
            <a:ext cx="3703320" cy="2377440"/>
          </a:xfrm>
          <a:prstGeom prst="roundRect">
            <a:avLst>
              <a:gd name="adj" fmla="val 10000"/>
            </a:avLst>
          </a:prstGeom>
          <a:solidFill>
            <a:srgbClr val="FFFFFF"/>
          </a:solidFill>
          <a:ln w="1270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38160" y="1417320"/>
            <a:ext cx="3703320" cy="502920"/>
          </a:xfrm>
          <a:prstGeom prst="rect">
            <a:avLst/>
          </a:prstGeom>
          <a:solidFill>
            <a:srgbClr val="666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21040" y="1481328"/>
            <a:ext cx="3520440" cy="411480"/>
          </a:xfrm>
          <a:prstGeom prst="rect">
            <a:avLst/>
          </a:prstGeom>
          <a:noFill/>
        </p:spPr>
        <p:txBody>
          <a:bodyPr wrap="square" lIns="45720" rIns="45720" tIns="18288" bIns="18288" anchor="t">
            <a:spAutoFit/>
          </a:bodyPr>
          <a:lstStyle/>
          <a:p>
            <a:pPr algn="l"/>
            <a:r>
              <a:rPr sz="1500" b="1">
                <a:solidFill>
                  <a:srgbClr val="FFFFFF"/>
                </a:solidFill>
                <a:latin typeface="Malgun Gothic"/>
                <a:ea typeface="Malgun Gothic"/>
              </a:rPr>
              <a:t>한계</a:t>
            </a:r>
          </a:p>
        </p:txBody>
      </p:sp>
      <p:sp>
        <p:nvSpPr>
          <p:cNvPr id="18" name="TextBox 17"/>
          <p:cNvSpPr txBox="1"/>
          <p:nvPr/>
        </p:nvSpPr>
        <p:spPr>
          <a:xfrm>
            <a:off x="8321040" y="2057400"/>
            <a:ext cx="3337560" cy="1645920"/>
          </a:xfrm>
          <a:prstGeom prst="rect">
            <a:avLst/>
          </a:prstGeom>
          <a:noFill/>
        </p:spPr>
        <p:txBody>
          <a:bodyPr wrap="square" lIns="45720" rIns="45720" tIns="18288" bIns="18288" anchor="t">
            <a:spAutoFit/>
          </a:bodyPr>
          <a:lstStyle/>
          <a:p>
            <a:pPr algn="l"/>
            <a:r>
              <a:rPr sz="1200" b="0">
                <a:solidFill>
                  <a:srgbClr val="333333"/>
                </a:solidFill>
                <a:latin typeface="Malgun Gothic"/>
                <a:ea typeface="Malgun Gothic"/>
              </a:rPr>
              <a:t>본 연구는 문헌 고찰에 기반한
개념적 논의로,
사고 주도성과 조절 기제는
아직 경험적으로 검증되지 않았다.
후속 실증 연구가 요구된다.</a:t>
            </a:r>
          </a:p>
        </p:txBody>
      </p:sp>
      <p:sp>
        <p:nvSpPr>
          <p:cNvPr id="19" name="Rectangle 18"/>
          <p:cNvSpPr/>
          <p:nvPr/>
        </p:nvSpPr>
        <p:spPr>
          <a:xfrm>
            <a:off x="457200" y="4206240"/>
            <a:ext cx="11247120" cy="1828800"/>
          </a:xfrm>
          <a:prstGeom prst="rect">
            <a:avLst/>
          </a:prstGeom>
          <a:solidFill>
            <a:srgbClr val="1F3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4206240"/>
            <a:ext cx="164592" cy="18288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4343400"/>
            <a:ext cx="10607040" cy="411480"/>
          </a:xfrm>
          <a:prstGeom prst="rect">
            <a:avLst/>
          </a:prstGeom>
          <a:noFill/>
        </p:spPr>
        <p:txBody>
          <a:bodyPr wrap="square" lIns="45720" rIns="45720" tIns="18288" bIns="18288" anchor="t">
            <a:spAutoFit/>
          </a:bodyPr>
          <a:lstStyle/>
          <a:p>
            <a:pPr algn="l"/>
            <a:r>
              <a:rPr sz="1300" b="1">
                <a:solidFill>
                  <a:srgbClr val="E8EEF7"/>
                </a:solidFill>
                <a:latin typeface="Malgun Gothic"/>
                <a:ea typeface="Malgun Gothic"/>
              </a:rPr>
              <a:t>한 줄 메시지</a:t>
            </a:r>
          </a:p>
        </p:txBody>
      </p:sp>
      <p:sp>
        <p:nvSpPr>
          <p:cNvPr id="22" name="TextBox 21"/>
          <p:cNvSpPr txBox="1"/>
          <p:nvPr/>
        </p:nvSpPr>
        <p:spPr>
          <a:xfrm>
            <a:off x="822960" y="4754880"/>
            <a:ext cx="10607040" cy="1188720"/>
          </a:xfrm>
          <a:prstGeom prst="rect">
            <a:avLst/>
          </a:prstGeom>
          <a:noFill/>
        </p:spPr>
        <p:txBody>
          <a:bodyPr wrap="square" lIns="45720" rIns="45720" tIns="18288" bIns="18288" anchor="t">
            <a:spAutoFit/>
          </a:bodyPr>
          <a:lstStyle/>
          <a:p>
            <a:pPr algn="l"/>
            <a:r>
              <a:rPr sz="2000" b="1">
                <a:solidFill>
                  <a:srgbClr val="FFFFFF"/>
                </a:solidFill>
                <a:latin typeface="Malgun Gothic"/>
                <a:ea typeface="Malgun Gothic"/>
              </a:rPr>
              <a:t>AI 시대의 교육은 AI를 능숙하게 사용하는 학습자를 기르는 데서 나아가,
학습자가 ‘사고의 주체’로 남도록 설계되어야 한다.</a:t>
            </a:r>
          </a:p>
        </p:txBody>
      </p:sp>
      <p:sp>
        <p:nvSpPr>
          <p:cNvPr id="23" name="TextBox 22"/>
          <p:cNvSpPr txBox="1"/>
          <p:nvPr/>
        </p:nvSpPr>
        <p:spPr>
          <a:xfrm>
            <a:off x="457200" y="6446520"/>
            <a:ext cx="11247120" cy="320040"/>
          </a:xfrm>
          <a:prstGeom prst="rect">
            <a:avLst/>
          </a:prstGeom>
          <a:noFill/>
        </p:spPr>
        <p:txBody>
          <a:bodyPr wrap="square" lIns="45720" rIns="45720" tIns="18288" bIns="18288" anchor="t">
            <a:spAutoFit/>
          </a:bodyPr>
          <a:lstStyle/>
          <a:p>
            <a:pPr algn="l"/>
            <a:r>
              <a:rPr sz="1000" b="0">
                <a:solidFill>
                  <a:srgbClr val="666666"/>
                </a:solidFill>
                <a:latin typeface="Malgun Gothic"/>
                <a:ea typeface="Malgun Gothic"/>
              </a:rPr>
              <a:t>생성형 AI 활용 학습에서 사고 주도성과 메타인지적 조절 기제</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