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지난주 한계 토론을 상기시키며 시작해요. '오늘 그 아쉬움을 전부 해결합니다!'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목표와 시간표를 안내해요. 오늘은 배포 설정이 최대 고비임을 미리 예고해 집중시켜요.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1교시 시작. '구글이 우리 서버가 되어 주는 날'이라고 소개해요.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구조 B 그림을 위에서 아래로 짚으며, 시트가 '공용 게시판' 역할임을 설명해요.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시트 만들기와 편집기 열기를 함께 진행해요. 탭 이름 '시트1' 확인을 강조!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화면(시트·편집기)이 준비 상태인지 팀별로 확인해요. 오늘 하루의 작업대예요.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doGet 코드를 함께 읽어요. 3회차 server.on과 같은 역할임을 연결해 주면 이해가 빨라요.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배포 5단계를 화면과 똑같이 따라가게 해요. '모든 사용자' 설정이 실패 원인 1위!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배포 설정 두 장면을 내 화면과 대조하게 해요. URL 끝이 /exec인지 확인!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브라우저로 개통 테스트를 해요. 시트에 줄이 생기는 순간 다 같이 박수!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2교시 시작. 이제 ESP32가 손님이 되어 구글에 접속해요.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모드 코드를 함께 읽어요. setFollowRedirects가 빠지면 실패한다는 점을 강조!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센서 추가 공식(읽기 한 줄 + 주소 한 조각)을 설명해요. 어떤 센서든 같은 공식임을 강조해요.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이름 대조표를 함께 읽어요. '막히면 이 표부터'를 오늘의 주문으로 만들어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3교시 시작. 시트의 글자 하나로 교실 LED를 켜는 마법을 예고해요.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A1에 ON을 입력하고 최대 10초 기다리는 시연을 해요. 폴링 주기의 의미를 체감시켜요.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Studio를 소개하고, 2회차에 손으로 쓴 경험 덕분에 AI 결과를 읽을 수 있음을 강조해요.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Studio 화면 구성을 함께 확인해요. 생성 결과가 팀마다 달라도 괜찮다고 안심시켜요.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프롬프트 원문을 복사해 붙여넣게 해요. [ ] 부분만 팀 것으로 교체!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PWA 설치 5단계를 함께 진행해요. 홈 화면에 아이콘이 생기는 순간이 오늘의 하이라이트!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심화 과제로 소개해요. 'API도 결국 우리 doGet과 같은 원리'라는 연결이 핵심이에요.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미니 프로젝트 마무리 시간 25분. 안 되면 흐름 순서대로 구간 점검하게 순회 지도해요.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구조 A/B 비교표를 함께 읽으며 오늘을 정리해요. 팀 프로젝트는 구조 B가 표준!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막힘 사례를 공유해요. 재배포 시 URL 교체를 한 번 더 강조!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3대 보물(URL·시트·코드) 백업을 확인하고 마무리해요. 다음 주 팀 프로젝트 출발 예고!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기반 IoT 메이커 교육 · ESP32 × 고릴라셀 DSL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148840" cy="566928"/>
          </a:xfrm>
          <a:prstGeom prst="roundRect">
            <a:avLst>
              <a:gd name="adj" fmla="val 50000"/>
            </a:avLst>
          </a:prstGeom>
          <a:solidFill>
            <a:srgbClr val="2E6BE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4회차 / 7회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10881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클라우드로 확장!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데이터가 남는 시스템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구글 시트를 데이터베이스로 — 저장되고, 통계 나오고, 어디서든 접속되는 진짜 서비스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4709160"/>
            <a:ext cx="2651760" cy="1051560"/>
          </a:xfrm>
          <a:prstGeom prst="roundRect">
            <a:avLst>
              <a:gd name="adj" fmla="val 7826"/>
            </a:avLst>
          </a:prstGeom>
          <a:solidFill>
            <a:srgbClr val="22335F"/>
          </a:solidFill>
          <a:ln w="12700">
            <a:solidFill>
              <a:srgbClr val="3A4C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4837176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B0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04672" y="5129784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구글 시트 + Apps Script 서버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456432" y="4709160"/>
            <a:ext cx="2651760" cy="1051560"/>
          </a:xfrm>
          <a:prstGeom prst="roundRect">
            <a:avLst>
              <a:gd name="adj" fmla="val 7826"/>
            </a:avLst>
          </a:prstGeom>
          <a:solidFill>
            <a:srgbClr val="22335F"/>
          </a:solidFill>
          <a:ln w="12700">
            <a:solidFill>
              <a:srgbClr val="3A4C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21024" y="4837176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B0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621024" y="5129784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ESP32 → 클라우드 자동 업로드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72784" y="4709160"/>
            <a:ext cx="2651760" cy="1051560"/>
          </a:xfrm>
          <a:prstGeom prst="roundRect">
            <a:avLst>
              <a:gd name="adj" fmla="val 7826"/>
            </a:avLst>
          </a:prstGeom>
          <a:solidFill>
            <a:srgbClr val="22335F"/>
          </a:solidFill>
          <a:ln w="12700">
            <a:solidFill>
              <a:srgbClr val="3A4C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37376" y="4837176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B0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37376" y="5129784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원격 제어 + AI Studio 웹앱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089136" y="4709160"/>
            <a:ext cx="2651760" cy="1051560"/>
          </a:xfrm>
          <a:prstGeom prst="roundRect">
            <a:avLst>
              <a:gd name="adj" fmla="val 7826"/>
            </a:avLst>
          </a:prstGeom>
          <a:solidFill>
            <a:srgbClr val="22335F"/>
          </a:solidFill>
          <a:ln w="12700">
            <a:solidFill>
              <a:srgbClr val="3A4C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53728" y="4837176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B0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253728" y="5129784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미니 프로젝트 : 교실 환경 모니터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" y="6355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F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클라우드 확장 — Apps Script · Google Sheets · AI Studio · 4시간 과정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목표와 흐름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5532120" cy="4892040"/>
          </a:xfrm>
          <a:prstGeom prst="roundRect">
            <a:avLst>
              <a:gd name="adj" fmla="val 1869"/>
            </a:avLst>
          </a:prstGeom>
          <a:solidFill>
            <a:srgbClr val="EDF3F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목표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402336" cy="402336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30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2039112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Apps Script로 doGet 웹앱을 배포하고 구글 시트에 데이터를 기록할 수 있어요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3108960"/>
            <a:ext cx="402336" cy="402336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999232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ESP32가 클라우드에 데이터를 올리고, 명령을 받아오는(폴링) 구조를 만들 수 있어요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22960" y="4069080"/>
            <a:ext cx="402336" cy="402336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050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3959352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Studio로 웹앱 화면을 생성하고 Apps Script와 연결할 수 있어요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263640" y="1371600"/>
            <a:ext cx="5422392" cy="4892040"/>
          </a:xfrm>
          <a:prstGeom prst="roundRect">
            <a:avLst>
              <a:gd name="adj" fmla="val 1869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시간표 (50분 수업 + 10분 휴식)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83680" y="214884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E6BE6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21488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607808" y="2075688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시트 만들기 · Apps Script 첫 코드 · 웹앱 배포(가장 중요!)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583680" y="315468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E6BE6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315468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607808" y="3081528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Station 모드 · 키트 센서 4종(온·습·조도·소음) 자동 업로드 · 이름 일치 점검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583680" y="416052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E6BE6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416052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607808" y="4087368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원격 LED · AI Studio 웹앱 생성(프롬프트 원문) · 폰에 PWA 설치 · API 심화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583680" y="516636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E6BE6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516636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607808" y="5093208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'교실 환경 모니터' 완성 · CSV 다운로드 · 구조 A/B 비교 정리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4회차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920240"/>
            <a:ext cx="1051560" cy="1051560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901952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011680" y="19385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B0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011680" y="2377440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구글이 우리의 서버가 돼요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011680" y="329184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9D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지난주의 아쉬움 3가지를 오늘 전부 해결해요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13232" y="5120640"/>
            <a:ext cx="201168" cy="201168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9" name="Shape 7"/>
          <p:cNvSpPr/>
          <p:nvPr/>
        </p:nvSpPr>
        <p:spPr>
          <a:xfrm>
            <a:off x="1408176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10" name="Shape 8"/>
          <p:cNvSpPr/>
          <p:nvPr/>
        </p:nvSpPr>
        <p:spPr>
          <a:xfrm>
            <a:off x="1755648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F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4회차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완성할 새 구조 (구조 B)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폰과 ESP32는 직접 만나지 않아요 — 구글 시트라는 '공용 게시판'으로 소통해요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31520" y="1517904"/>
            <a:ext cx="5669280" cy="713232"/>
          </a:xfrm>
          <a:prstGeom prst="roundRect">
            <a:avLst>
              <a:gd name="adj" fmla="val 11538"/>
            </a:avLst>
          </a:prstGeom>
          <a:solidFill>
            <a:srgbClr val="2E6BE6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17904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📱 스마트폰 (어디서든)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629400" y="1517904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인터넷으로 접속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244852"/>
            <a:ext cx="5669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542032"/>
            <a:ext cx="5669280" cy="713232"/>
          </a:xfrm>
          <a:prstGeom prst="roundRect">
            <a:avLst>
              <a:gd name="adj" fmla="val 11538"/>
            </a:avLst>
          </a:prstGeom>
          <a:solidFill>
            <a:srgbClr val="EDF3FE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542032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🌐 AI Studio 웹앱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629400" y="254203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담당 (3교시 제작)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268980"/>
            <a:ext cx="5669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566160"/>
            <a:ext cx="5669280" cy="713232"/>
          </a:xfrm>
          <a:prstGeom prst="roundRect">
            <a:avLst>
              <a:gd name="adj" fmla="val 11538"/>
            </a:avLst>
          </a:prstGeom>
          <a:solidFill>
            <a:srgbClr val="EDF3FE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566160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⚙️ Apps Script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629400" y="35661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 담당 — 구글 위의 server.on()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4293108"/>
            <a:ext cx="5669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590288"/>
            <a:ext cx="5669280" cy="713232"/>
          </a:xfrm>
          <a:prstGeom prst="roundRect">
            <a:avLst>
              <a:gd name="adj" fmla="val 11538"/>
            </a:avLst>
          </a:prstGeom>
          <a:solidFill>
            <a:srgbClr val="EDF3FE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590288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📊 Google Sheets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629400" y="459028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 담당 — 데이터베이스!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5317236"/>
            <a:ext cx="5669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5614416"/>
            <a:ext cx="5669280" cy="713232"/>
          </a:xfrm>
          <a:prstGeom prst="roundRect">
            <a:avLst>
              <a:gd name="adj" fmla="val 11538"/>
            </a:avLst>
          </a:prstGeom>
          <a:solidFill>
            <a:srgbClr val="2E6BE6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614416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📡 ESP32 + 센서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629400" y="561441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10초마다 업로드 &amp; 명령 확인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509760" y="1517904"/>
            <a:ext cx="2176272" cy="4837176"/>
          </a:xfrm>
          <a:prstGeom prst="roundRect">
            <a:avLst>
              <a:gd name="adj" fmla="val 4202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38360" y="1700784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무엇이 좋아질까요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765792" y="2139696"/>
            <a:ext cx="1664208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시트에 쓰면 영원히 남아요 → 통계·CSV 해결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구글 서버는 24시간 켜져 있어요 → 집에서도 접속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ESP32는 '게시판을 주기적으로 확인'해요 = 폴링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지난주 배운 요청-응답 원리가 그대로 반복돼요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4회차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따라하기 ① 구글 시트 + Apps Script 열기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27632"/>
            <a:ext cx="420624" cy="420624"/>
          </a:xfrm>
          <a:prstGeom prst="ellipse">
            <a:avLst/>
          </a:prstGeom>
          <a:solidFill>
            <a:srgbClr val="12A15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93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17320" y="1463040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구글 드라이브 → 새로 만들기 → Google 스프레드시트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417320" y="1792224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이름을 '팀1_데이터'로 변경, 1행에 제목 : 시각 | 온도 | 습도 | 조도 | 소음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450592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706624"/>
            <a:ext cx="420624" cy="420624"/>
          </a:xfrm>
          <a:prstGeom prst="ellipse">
            <a:avLst/>
          </a:prstGeom>
          <a:solidFill>
            <a:srgbClr val="12A15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88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2542032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시트 메뉴 : 확장 프로그램 → Apps Script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417320" y="2871216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탭에 코드 편집기가 열려요 — 여기가 우리의 '서버 공장'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3529584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785616"/>
            <a:ext cx="420624" cy="420624"/>
          </a:xfrm>
          <a:prstGeom prst="ellipse">
            <a:avLst/>
          </a:prstGeom>
          <a:solidFill>
            <a:srgbClr val="12A15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767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3621024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이름을 '팀1_서버'로 변경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417320" y="3950208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저장은 Ctrl+S — 수시로!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02920" y="5833872"/>
            <a:ext cx="11183112" cy="530352"/>
          </a:xfrm>
          <a:prstGeom prst="roundRect">
            <a:avLst>
              <a:gd name="adj" fmla="val 15517"/>
            </a:avLst>
          </a:prstGeom>
          <a:solidFill>
            <a:srgbClr val="EDF3FE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833872"/>
            <a:ext cx="10634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Apps Script = 구글 문서 안에서 돌아가는 JavaScript. 구글이 컴퓨터를 빌려주는 셈 — 그것도 무료로, 24시간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4회차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화면으로 확인 — 시트와 편집기 준비 상태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코드를 쓰기 전, 두 화면이 이 상태여야 해요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5212080" cy="4142232"/>
          </a:xfrm>
          <a:prstGeom prst="roundRect">
            <a:avLst>
              <a:gd name="adj" fmla="val 2208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642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순서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77240" y="2121408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03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43584" y="206654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시트 1행 : 시각 · 온도 · 습도 · 조도 · 소음 입력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43584" y="2359152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탭(시트) 이름이 '시트1'인지 확인 — 코드의 getSheetByName과 같아야 해요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2812694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9440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43584" y="275783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확장 프로그램 → Apps Script 클릭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243584" y="3050438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탭으로 편집기가 열려요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" y="3503981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48569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43584" y="3449117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기본으로 있는 function myFunction(){} 전체 삭제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243584" y="3741725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빈 화면에서 시작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77240" y="4195267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17697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43584" y="4140403"/>
            <a:ext cx="420624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슬라이드의 doGet 코드 입력(또는 배포 템플릿 붙여넣기)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77240" y="4886554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86826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43584" y="483169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Ctrl+S로 저장 — 상단에 저장 표시 확인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243584" y="5124298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이름도 '팀○_서버'로 변경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989320" y="1481328"/>
            <a:ext cx="5696712" cy="1956816"/>
          </a:xfrm>
          <a:prstGeom prst="roundRect">
            <a:avLst>
              <a:gd name="adj" fmla="val 4673"/>
            </a:avLst>
          </a:prstGeom>
          <a:solidFill>
            <a:srgbClr val="EDF3FE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6309360" y="1481328"/>
            <a:ext cx="505663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  스크린샷 자리</a:t>
            </a:r>
            <a:endParaRPr lang="en-US" sz="14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시트 — 1행 제목이 입력된 화면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5989320" y="3666744"/>
            <a:ext cx="5696712" cy="1956816"/>
          </a:xfrm>
          <a:prstGeom prst="roundRect">
            <a:avLst>
              <a:gd name="adj" fmla="val 4673"/>
            </a:avLst>
          </a:prstGeom>
          <a:solidFill>
            <a:srgbClr val="EDF3FE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6309360" y="3666744"/>
            <a:ext cx="505663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  스크린샷 자리</a:t>
            </a:r>
            <a:endParaRPr lang="en-US" sz="14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Apps Script 편집기 — 코드 입력 위치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502920" y="5833872"/>
            <a:ext cx="11183112" cy="530352"/>
          </a:xfrm>
          <a:prstGeom prst="roundRect">
            <a:avLst>
              <a:gd name="adj" fmla="val 15517"/>
            </a:avLst>
          </a:prstGeom>
          <a:solidFill>
            <a:srgbClr val="EDF3FE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5833872"/>
            <a:ext cx="10634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확인 포인트 : 편집기 탭과 시트 탭을 둘 다 열어 두고 오가요 — 오늘 하루 종일 이 2개 탭이 우리의 작업대예요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4회차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따라하기 ② 첫 서버 코드 — doGet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3회차의 server.on("/")과 완전히 같은 역할 — 자리만 ESP32에서 구글로 옮겼어요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6309360" cy="4736592"/>
          </a:xfrm>
          <a:prstGeom prst="roundRect">
            <a:avLst>
              <a:gd name="adj" fmla="val 1931"/>
            </a:avLst>
          </a:prstGeom>
          <a:solidFill>
            <a:srgbClr val="101A3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64208"/>
            <a:ext cx="5806440" cy="4370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doGet(e) {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e.parameter = 주소 뒤 ?이름=값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sheet = SpreadsheetApp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.getActiveSpreadsheet()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.getSheetByName("시트1");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t = e.parameter.temp;  // 온도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h = e.parameter.humi;  // 습도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l = e.parameter.light; // 조도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s = e.parameter.sound; // 소음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sheet.appendRow(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[new Date(), t, h, l, s]);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시트 맨 아래에 한 줄 추가!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ContentService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.createTextOutput("OK");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086600" y="1499616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읽기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086600" y="1938528"/>
            <a:ext cx="4599432" cy="427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doGet = '요청이 오면 실행되는 함수'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주소?temp=25&amp;light=800… → e.parameter로 꺼내요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appendRow = 시트에 한 줄 쓰기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마지막 return이 응답("OK")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3회차 흐름도의 'ESP32' 자리에 '구글'을 넣으면 그대로!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4회차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따라하기 ③ 웹앱 배포 — 오늘의 최대 고비!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설정 하나만 틀려도 전부 안 돼요 — 화면과 똑같이 따라가자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1183112" cy="801014"/>
          </a:xfrm>
          <a:prstGeom prst="roundRect">
            <a:avLst>
              <a:gd name="adj" fmla="val 1027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71523"/>
            <a:ext cx="420624" cy="420624"/>
          </a:xfrm>
          <a:prstGeom prst="ellipse">
            <a:avLst/>
          </a:prstGeom>
          <a:solidFill>
            <a:srgbClr val="E8930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53235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481328"/>
            <a:ext cx="9948672" cy="801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우측 상단 [배포] → [새 배포] 클릭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02920" y="2428646"/>
            <a:ext cx="11183112" cy="801014"/>
          </a:xfrm>
          <a:prstGeom prst="roundRect">
            <a:avLst>
              <a:gd name="adj" fmla="val 1027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18842"/>
            <a:ext cx="420624" cy="420624"/>
          </a:xfrm>
          <a:prstGeom prst="ellipse">
            <a:avLst/>
          </a:prstGeom>
          <a:solidFill>
            <a:srgbClr val="E8930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0055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2428646"/>
            <a:ext cx="9948672" cy="801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톱니바퀴 → 유형 : '웹 앱' 선택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02920" y="3375965"/>
            <a:ext cx="11183112" cy="801014"/>
          </a:xfrm>
          <a:prstGeom prst="roundRect">
            <a:avLst>
              <a:gd name="adj" fmla="val 1027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566160"/>
            <a:ext cx="420624" cy="420624"/>
          </a:xfrm>
          <a:prstGeom prst="ellipse">
            <a:avLst/>
          </a:prstGeom>
          <a:solidFill>
            <a:srgbClr val="E8930C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547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3467405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액세스 권한 : ★ '모든 사용자' ★ 로 변경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417320" y="3796589"/>
            <a:ext cx="9948672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기본값 '나만'이면 ESP32가 접속을 거부당해요 — 오늘 실패 원인 1위!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02920" y="4323283"/>
            <a:ext cx="11183112" cy="801014"/>
          </a:xfrm>
          <a:prstGeom prst="roundRect">
            <a:avLst>
              <a:gd name="adj" fmla="val 1027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4513478"/>
            <a:ext cx="420624" cy="420624"/>
          </a:xfrm>
          <a:prstGeom prst="ellipse">
            <a:avLst/>
          </a:prstGeom>
          <a:solidFill>
            <a:srgbClr val="E8930C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49519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17320" y="4414723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[배포] → 권한 승인 (경고창 : 고급 → 이동 → 허용)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1417320" y="4743907"/>
            <a:ext cx="9948672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내가 만든 앱이라 안전 — 구글의 형식적 확인 절차예요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02920" y="5270602"/>
            <a:ext cx="11183112" cy="801014"/>
          </a:xfrm>
          <a:prstGeom prst="roundRect">
            <a:avLst>
              <a:gd name="adj" fmla="val 1027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5460797"/>
            <a:ext cx="420624" cy="420624"/>
          </a:xfrm>
          <a:prstGeom prst="ellipse">
            <a:avLst/>
          </a:prstGeom>
          <a:solidFill>
            <a:srgbClr val="E8930C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442509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17320" y="5362042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'웹 앱 URL' 복사 → 팀 메모장에 보관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1417320" y="5691226"/>
            <a:ext cx="9948672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https://script.google.com/... 이 긴 주소가 우리 서버의 주소!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02920" y="5833872"/>
            <a:ext cx="11183112" cy="530352"/>
          </a:xfrm>
          <a:prstGeom prst="roundRect">
            <a:avLst>
              <a:gd name="adj" fmla="val 15517"/>
            </a:avLst>
          </a:prstGeom>
          <a:solidFill>
            <a:srgbClr val="EDF3FE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5833872"/>
            <a:ext cx="10634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브라우저 주소창에  복사한URL?temp=25&amp;humi=48&amp;light=800&amp;sound=120  붙여넣기 → 시트에 한 줄 생기면 서버 개통 성공!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4회차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화면으로 확인 — 배포 설정 두 장면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실패 원인 1위 구간 — 이 두 화면과 내 화면이 똑같은지 대조해요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5212080" cy="4142232"/>
          </a:xfrm>
          <a:prstGeom prst="roundRect">
            <a:avLst>
              <a:gd name="adj" fmla="val 2208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642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순서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77240" y="2121408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03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43584" y="206654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[배포] → [새 배포] → 톱니바퀴 → '웹 앱'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43584" y="2359152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유형을 안 고르면 배포 버튼이 비활성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2812694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9440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43584" y="275783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설명 칸에 v1 입력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243584" y="3050438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나중에 버전 관리가 편해져요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" y="3503981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48569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43584" y="3449117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'다음 사용자 인증 정보로 실행' : 나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243584" y="3741725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기본값 그대로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77240" y="4195267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17697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43584" y="4140403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'액세스 권한 있는 사용자' : ★모든 사용자★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243584" y="4433011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여기가 갈림길 — '나만'이면 ESP32가 거부당해요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77240" y="4886554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86826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43584" y="483169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[배포] → 경고창 : 고급 → 이동 → 허용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243584" y="5124298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내가 만든 앱에 대한 구글의 형식적 확인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989320" y="1481328"/>
            <a:ext cx="5696712" cy="1956816"/>
          </a:xfrm>
          <a:prstGeom prst="roundRect">
            <a:avLst>
              <a:gd name="adj" fmla="val 4673"/>
            </a:avLst>
          </a:prstGeom>
          <a:solidFill>
            <a:srgbClr val="EDF3FE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6309360" y="1481328"/>
            <a:ext cx="505663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  스크린샷 자리</a:t>
            </a:r>
            <a:endParaRPr lang="en-US" sz="14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배포 창 — 유형 '웹 앱' 선택 장면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5989320" y="3666744"/>
            <a:ext cx="5696712" cy="1956816"/>
          </a:xfrm>
          <a:prstGeom prst="roundRect">
            <a:avLst>
              <a:gd name="adj" fmla="val 4673"/>
            </a:avLst>
          </a:prstGeom>
          <a:solidFill>
            <a:srgbClr val="EDF3FE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6309360" y="3666744"/>
            <a:ext cx="505663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  스크린샷 자리</a:t>
            </a:r>
            <a:endParaRPr lang="en-US" sz="14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액세스 권한 — '모든 사용자' 선택 장면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502920" y="5833872"/>
            <a:ext cx="11183112" cy="530352"/>
          </a:xfrm>
          <a:prstGeom prst="roundRect">
            <a:avLst>
              <a:gd name="adj" fmla="val 15517"/>
            </a:avLst>
          </a:prstGeom>
          <a:solidFill>
            <a:srgbClr val="EDF3FE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5833872"/>
            <a:ext cx="10634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확인 포인트 : 복사한 URL 끝이 /exec 인지 확인 — /dev로 끝나는 주소는 ESP32에서 동작하지 않아요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4회차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화면으로 확인 — 서버 개통 테스트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ESP32를 연결하기 전에, 브라우저로 서버만 먼저 검사해요 (구간 점검!)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5212080" cy="4142232"/>
          </a:xfrm>
          <a:prstGeom prst="roundRect">
            <a:avLst>
              <a:gd name="adj" fmla="val 2208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642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순서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77240" y="2121408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03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43584" y="206654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메모장에 주소 조립 : URL?temp=25&amp;humi=48&amp;light=800&amp;sound=120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43584" y="2359152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? 뒤가 데이터, &amp; 는 구분자 — 이름 4개가 doGet·시트 1행과 짝!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2812694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9440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43584" y="2757830"/>
            <a:ext cx="420624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조립한 주소를 브라우저 주소창에 붙여넣기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3503981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48569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43584" y="3449117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화면에 OK 표시 확인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243584" y="3741725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doGet의 return 값이 그대로 보이는 것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4195267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17697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43584" y="4140403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시트 탭으로 전환 → 새 줄 확인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243584" y="4433011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시각·25·48·800·120이 자동으로 기록되어 있어야 해요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77240" y="4886554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86826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43584" y="483169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숫자를 바꿔 한 번 더 → 줄이 또 늘어나는지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243584" y="5124298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여기까지 되면 서버는 완성 — 남은 건 ESP32뿐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989320" y="1481328"/>
            <a:ext cx="5696712" cy="1956816"/>
          </a:xfrm>
          <a:prstGeom prst="roundRect">
            <a:avLst>
              <a:gd name="adj" fmla="val 4673"/>
            </a:avLst>
          </a:prstGeom>
          <a:solidFill>
            <a:srgbClr val="EDF3FE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6309360" y="1481328"/>
            <a:ext cx="505663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  스크린샷 자리</a:t>
            </a:r>
            <a:endParaRPr lang="en-US" sz="14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브라우저 — OK 응답 화면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5989320" y="3666744"/>
            <a:ext cx="5696712" cy="1956816"/>
          </a:xfrm>
          <a:prstGeom prst="roundRect">
            <a:avLst>
              <a:gd name="adj" fmla="val 4673"/>
            </a:avLst>
          </a:prstGeom>
          <a:solidFill>
            <a:srgbClr val="EDF3FE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6309360" y="3666744"/>
            <a:ext cx="505663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  스크린샷 자리</a:t>
            </a:r>
            <a:endParaRPr lang="en-US" sz="14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시트 — 자동으로 추가된 데이터 줄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502920" y="5833872"/>
            <a:ext cx="11183112" cy="530352"/>
          </a:xfrm>
          <a:prstGeom prst="roundRect">
            <a:avLst>
              <a:gd name="adj" fmla="val 15517"/>
            </a:avLst>
          </a:prstGeom>
          <a:solidFill>
            <a:srgbClr val="EDF3FE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5833872"/>
            <a:ext cx="10634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확인 포인트 : '권한이 없습니다'가 뜨면 → 액세스 권한 재설정 후 [배포 관리]에서 새 버전으로 재배포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4회차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920240"/>
            <a:ext cx="1051560" cy="1051560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901952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011680" y="19385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B0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011680" y="2377440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ESP32, 클라우드에 접속하다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011680" y="329184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9D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이번엔 폰이 아니라 보드가 '손님'이 되어 구글에 요청을 보내요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13232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5120640"/>
            <a:ext cx="201168" cy="201168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9" name="Shape 7"/>
          <p:cNvSpPr/>
          <p:nvPr/>
        </p:nvSpPr>
        <p:spPr>
          <a:xfrm>
            <a:off x="1408176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10" name="Shape 8"/>
          <p:cNvSpPr/>
          <p:nvPr/>
        </p:nvSpPr>
        <p:spPr>
          <a:xfrm>
            <a:off x="1755648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F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4회차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따라하기 ④ Station 모드 + 클라우드 업로드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 모드(WiFi 만들기) → Station 모드(WiFi 접속하기)로 전환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7498080" cy="4142232"/>
          </a:xfrm>
          <a:prstGeom prst="roundRect">
            <a:avLst>
              <a:gd name="adj" fmla="val 2208"/>
            </a:avLst>
          </a:prstGeom>
          <a:solidFill>
            <a:srgbClr val="101A3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64208"/>
            <a:ext cx="6995160" cy="377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&lt;WiFi.h&gt;</a:t>
            </a:r>
            <a:endParaRPr lang="en-US" sz="1050" dirty="0"/>
          </a:p>
          <a:p>
            <a:pPr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&lt;HTTPClient.h&gt;</a:t>
            </a:r>
            <a:endParaRPr lang="en-US" sz="1050" dirty="0"/>
          </a:p>
          <a:p>
            <a:pPr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char* URL = "복사한 웹앱 URL";</a:t>
            </a:r>
            <a:endParaRPr lang="en-US" sz="1050" dirty="0"/>
          </a:p>
          <a:p>
            <a:pPr indent="0" marL="0">
              <a:lnSpc>
                <a:spcPts val="1449"/>
              </a:lnSpc>
              <a:buNone/>
            </a:pPr>
            <a:endParaRPr lang="en-US" sz="1050" dirty="0"/>
          </a:p>
          <a:p>
            <a:pPr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setup() {</a:t>
            </a:r>
            <a:endParaRPr lang="en-US" sz="1050" dirty="0"/>
          </a:p>
          <a:p>
            <a:pPr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WiFi.begin("WiFi이름", "비밀번호");</a:t>
            </a:r>
            <a:endParaRPr lang="en-US" sz="1050" dirty="0"/>
          </a:p>
          <a:p>
            <a:pPr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(WiFi.status() != WL_CONNECTED)</a:t>
            </a:r>
            <a:endParaRPr lang="en-US" sz="1050" dirty="0"/>
          </a:p>
          <a:p>
            <a:pPr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delay(500); // 연결될 때까지 대기</a:t>
            </a:r>
            <a:endParaRPr lang="en-US" sz="1050" dirty="0"/>
          </a:p>
          <a:p>
            <a:pPr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ts val="1449"/>
              </a:lnSpc>
              <a:buNone/>
            </a:pPr>
            <a:endParaRPr lang="en-US" sz="1050" dirty="0"/>
          </a:p>
          <a:p>
            <a:pPr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loop() {</a:t>
            </a:r>
            <a:endParaRPr lang="en-US" sz="1050" dirty="0"/>
          </a:p>
          <a:p>
            <a:pPr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float t = dht.readTemperature();</a:t>
            </a:r>
            <a:endParaRPr lang="en-US" sz="1050" dirty="0"/>
          </a:p>
          <a:p>
            <a:pPr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float h = dht.readHumidity();</a:t>
            </a:r>
            <a:endParaRPr lang="en-US" sz="1050" dirty="0"/>
          </a:p>
          <a:p>
            <a:pPr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HTTPClient http;</a:t>
            </a:r>
            <a:endParaRPr lang="en-US" sz="1050" dirty="0"/>
          </a:p>
          <a:p>
            <a:pPr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u = String(URL) + "?temp="</a:t>
            </a:r>
            <a:endParaRPr lang="en-US" sz="1050" dirty="0"/>
          </a:p>
          <a:p>
            <a:pPr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 String(t) + "&amp;humi=" + String(h);</a:t>
            </a:r>
            <a:endParaRPr lang="en-US" sz="1050" dirty="0"/>
          </a:p>
          <a:p>
            <a:pPr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http.begin(u);</a:t>
            </a:r>
            <a:endParaRPr lang="en-US" sz="1050" dirty="0"/>
          </a:p>
          <a:p>
            <a:pPr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http.setFollowRedirects(</a:t>
            </a:r>
            <a:endParaRPr lang="en-US" sz="1050" dirty="0"/>
          </a:p>
          <a:p>
            <a:pPr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HTTPC_FORCE_FOLLOW_REDIRECTS);</a:t>
            </a:r>
            <a:endParaRPr lang="en-US" sz="1050" dirty="0"/>
          </a:p>
          <a:p>
            <a:pPr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http.GET();     // 요청 발사!</a:t>
            </a:r>
            <a:endParaRPr lang="en-US" sz="1050" dirty="0"/>
          </a:p>
          <a:p>
            <a:pPr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http.end();</a:t>
            </a:r>
            <a:endParaRPr lang="en-US" sz="1050" dirty="0"/>
          </a:p>
          <a:p>
            <a:pPr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delay(10000);   // 10초마다</a:t>
            </a:r>
            <a:endParaRPr lang="en-US" sz="1050" dirty="0"/>
          </a:p>
          <a:p>
            <a:pPr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75320" y="1499616"/>
            <a:ext cx="3410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읽기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75320" y="1938528"/>
            <a:ext cx="3410712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WiFi.begin = 교사 핫스팟에 접속 (이름·비번은 칠판 공지)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주소 뒤에 ?temp=…&amp;humi=… 를 붙여 데이터 전달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setFollowRedirects : 구글 특유의 '재안내'를 따라가는 옵션 — 빼먹으면 실패!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10초마다 반복 → 시트에 데이터가 계속 쌓여요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5833872"/>
            <a:ext cx="11183112" cy="530352"/>
          </a:xfrm>
          <a:prstGeom prst="roundRect">
            <a:avLst>
              <a:gd name="adj" fmla="val 15517"/>
            </a:avLst>
          </a:prstGeom>
          <a:solidFill>
            <a:srgbClr val="FDF3E3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5833872"/>
            <a:ext cx="10634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5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업로드 후 시트를 열어두고 지켜봐요 — 10초마다 한 줄씩 '자동으로' 생기는 순간, 박수!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4회차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따라하기 ⑤ 키트의 다른 센서도 함께 올리기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 추가 공식 = 읽기 한 줄 + 주소 한 조각 — 어떤 센서든 똑같아요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6309360" cy="4736592"/>
          </a:xfrm>
          <a:prstGeom prst="roundRect">
            <a:avLst>
              <a:gd name="adj" fmla="val 1931"/>
            </a:avLst>
          </a:prstGeom>
          <a:solidFill>
            <a:srgbClr val="101A3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64208"/>
            <a:ext cx="5806440" cy="4370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loop() 안, 읽기 2줄 추가 :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l = analogRead(LIGHT); // 조도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 = analogRead(SOUND); // 소음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주소 조립을 4개로 연장 :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u = String(URL)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"?temp="  + String(t)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"&amp;humi="  + String(h)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"&amp;light=" + String(l)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"&amp;sound=" + String(s);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화분팀 예고(6회차) :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int m = analogRead(34); // 토양습도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+ "&amp;soil=" + String(m);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086600" y="1499616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읽기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086600" y="1938528"/>
            <a:ext cx="4599432" cy="427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공식은 언제나 같아요 : ① analogRead 한 줄 ② 주소에 &amp;이름= 한 조각 ③ 시트 1행에 열 하나 ④ doGet에 parameter 한 줄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초음파 거리·진동 등 어떤 센서도 같은 방법으로 추가 가능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토양습도 셀(화분팀)은 A2~A5 위치 포트(GPIO 34·35·36·39) — WiFi 사용 중 다른 아날로그 자리는 먹통!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이름 4곳의 짝이 맞아야 해요 → 다음 슬라이드의 대조표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4회차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다르면 안 되는 이름들 — 철자 하나로 전체가 멈춰요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오류의 80%는 여기서 나요 — 막히면 이 표부터 대조해요</a:t>
            </a:r>
            <a:endParaRPr lang="en-US" sz="14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17904"/>
          <a:ext cx="1118311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383280"/>
                <a:gridCol w="3383280"/>
                <a:gridCol w="267919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연결 고리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한쪽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다른 쪽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다르면 생기는 일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시트 탭 이름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시트 하단 탭 이름 '시트1'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getSheetByName("시트1")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'시트 없음' 에러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데이터 이름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ESP32 주소의 temp·humi·light·sound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doGet의 e.parameter.temp …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시트에 빈 칸만 기록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시트 열 순서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1행 : 시각·온도·습도·조도·소음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appendRow([시각, t, h, l, s])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값이 엉뚱한 열에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서버 주소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배포된 웹앱 URL (끝이 /exec)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ESP32 코드 · 웹앱 fetch의 URL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아무 반응 없음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명령 값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시트 A1의 ON / OFF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ESP32의 if (cmd == "ON")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LED 무반응 (대소문자!)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요청 종류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웹앱이 보내는 mode=cmd·latest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doGet의 mode 분기 문자열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unknown 응답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화면 이름표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HTML의 id="t"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getElementById("t")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화면 숫자가 안 바뀜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833872"/>
            <a:ext cx="11183112" cy="530352"/>
          </a:xfrm>
          <a:prstGeom prst="roundRect">
            <a:avLst>
              <a:gd name="adj" fmla="val 15517"/>
            </a:avLst>
          </a:prstGeom>
          <a:solidFill>
            <a:srgbClr val="EDF3FE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5833872"/>
            <a:ext cx="10634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재배포하면 URL이 바뀔 수 있어요 — URL을 쓰는 모든 곳(ESP32 코드·웹앱 fetch)을 한 번에 같이 교체해요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4회차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920240"/>
            <a:ext cx="1051560" cy="1051560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901952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011680" y="19385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B0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011680" y="2377440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원격 제어 + AI Studio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011680" y="329184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9D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시트의 글자 하나로 교실 LED를 켜고, AI에게 화면을 맡겨요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13232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9" name="Shape 7"/>
          <p:cNvSpPr/>
          <p:nvPr/>
        </p:nvSpPr>
        <p:spPr>
          <a:xfrm>
            <a:off x="1408176" y="5120640"/>
            <a:ext cx="201168" cy="201168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0" name="Shape 8"/>
          <p:cNvSpPr/>
          <p:nvPr/>
        </p:nvSpPr>
        <p:spPr>
          <a:xfrm>
            <a:off x="1755648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F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4회차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따라하기 ⑥ 명령 폴링 — 반대 방향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시트 '설정' 탭 A1칸에 ON/OFF를 쓰면 → ESP32가 읽어서 실행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7498080" cy="4736592"/>
          </a:xfrm>
          <a:prstGeom prst="roundRect">
            <a:avLst>
              <a:gd name="adj" fmla="val 1931"/>
            </a:avLst>
          </a:prstGeom>
          <a:solidFill>
            <a:srgbClr val="101A3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64208"/>
            <a:ext cx="6995160" cy="4370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[Apps Script] doGet에 분기 추가</a:t>
            </a:r>
            <a:endParaRPr lang="en-US" sz="1050" dirty="0"/>
          </a:p>
          <a:p>
            <a:pPr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(e.parameter.mode == "cmd") {</a:t>
            </a:r>
            <a:endParaRPr lang="en-US" sz="1050" dirty="0"/>
          </a:p>
          <a:p>
            <a:pPr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s = SpreadsheetApp.getActive()</a:t>
            </a:r>
            <a:endParaRPr lang="en-US" sz="1050" dirty="0"/>
          </a:p>
          <a:p>
            <a:pPr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.getSheetByName("설정");</a:t>
            </a:r>
            <a:endParaRPr lang="en-US" sz="1050" dirty="0"/>
          </a:p>
          <a:p>
            <a:pPr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ContentService.createTextOutput(</a:t>
            </a:r>
            <a:endParaRPr lang="en-US" sz="1050" dirty="0"/>
          </a:p>
          <a:p>
            <a:pPr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s.getRange("A1").getValue());</a:t>
            </a:r>
            <a:endParaRPr lang="en-US" sz="1050" dirty="0"/>
          </a:p>
          <a:p>
            <a:pPr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ts val="1449"/>
              </a:lnSpc>
              <a:buNone/>
            </a:pPr>
            <a:endParaRPr lang="en-US" sz="1050" dirty="0"/>
          </a:p>
          <a:p>
            <a:pPr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[ESP32] loop 안에서 10초마다</a:t>
            </a:r>
            <a:endParaRPr lang="en-US" sz="1050" dirty="0"/>
          </a:p>
          <a:p>
            <a:pPr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http.begin(String(URL) + "?mode=cmd");</a:t>
            </a:r>
            <a:endParaRPr lang="en-US" sz="1050" dirty="0"/>
          </a:p>
          <a:p>
            <a:pPr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http.setFollowRedirects(</a:t>
            </a:r>
            <a:endParaRPr lang="en-US" sz="1050" dirty="0"/>
          </a:p>
          <a:p>
            <a:pPr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HTTPC_FORCE_FOLLOW_REDIRECTS);</a:t>
            </a:r>
            <a:endParaRPr lang="en-US" sz="1050" dirty="0"/>
          </a:p>
          <a:p>
            <a:pPr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http.GET();</a:t>
            </a:r>
            <a:endParaRPr lang="en-US" sz="1050" dirty="0"/>
          </a:p>
          <a:p>
            <a:pPr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cmd = http.getString();</a:t>
            </a:r>
            <a:endParaRPr lang="en-US" sz="1050" dirty="0"/>
          </a:p>
          <a:p>
            <a:pPr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(cmd == "ON")</a:t>
            </a:r>
            <a:endParaRPr lang="en-US" sz="1050" dirty="0"/>
          </a:p>
          <a:p>
            <a:pPr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digitalWrite(LED, HIGH);</a:t>
            </a:r>
            <a:endParaRPr lang="en-US" sz="1050" dirty="0"/>
          </a:p>
          <a:p>
            <a:pPr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digitalWrite(LED, LOW);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75320" y="1499616"/>
            <a:ext cx="3410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읽기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75320" y="1938528"/>
            <a:ext cx="3410712" cy="427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시트 A1에 ON 입력 → 최대 10초 뒤 교실 LED 점등!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즉시가 아닌 이유 = 폴링 주기(10초)만큼 기다림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빠른 반응이 필요하면 주기를 3~5초로 — 대신 요청 횟수 증가 (트레이드오프)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웹앱용 분기 mode=set(명령 쓰기)·mode=latest(최근 1줄 응답)는 배포 템플릿에 포함 — 오늘은 A1 직접 입력으로 원리부터 확인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4회차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따라하기 ⑦ AI Studio — 화면을 '생성'해요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2회차에 손으로 쓰던 HTML·CSS·JS를 AI가 대신 써 줘요 — 우리는 읽고 고칠 줄 알아요!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1183112" cy="801014"/>
          </a:xfrm>
          <a:prstGeom prst="roundRect">
            <a:avLst>
              <a:gd name="adj" fmla="val 1027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71523"/>
            <a:ext cx="420624" cy="420624"/>
          </a:xfrm>
          <a:prstGeom prst="ellipse">
            <a:avLst/>
          </a:prstGeom>
          <a:solidFill>
            <a:srgbClr val="12A15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53235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572768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aistudio.google.com 접속 → Build(앱 만들기) 선택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417320" y="1901952"/>
            <a:ext cx="9948672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구글 계정 로그인 필요 (팀 계정 사용)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2428646"/>
            <a:ext cx="11183112" cy="801014"/>
          </a:xfrm>
          <a:prstGeom prst="roundRect">
            <a:avLst>
              <a:gd name="adj" fmla="val 1027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618842"/>
            <a:ext cx="420624" cy="420624"/>
          </a:xfrm>
          <a:prstGeom prst="ellipse">
            <a:avLst/>
          </a:prstGeom>
          <a:solidFill>
            <a:srgbClr val="12A15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60055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2520086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입력 — 구체적으로!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417320" y="2849270"/>
            <a:ext cx="9948672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"교실 환경 모니터 웹앱. 온도·습도를 큰 카드로 표시, LED 켜기/끄기 버튼, 파란 계열, 모바일 우선, 버튼 크게"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2920" y="3375965"/>
            <a:ext cx="11183112" cy="801014"/>
          </a:xfrm>
          <a:prstGeom prst="roundRect">
            <a:avLst>
              <a:gd name="adj" fmla="val 1027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566160"/>
            <a:ext cx="420624" cy="420624"/>
          </a:xfrm>
          <a:prstGeom prst="ellipse">
            <a:avLst/>
          </a:prstGeom>
          <a:solidFill>
            <a:srgbClr val="12A15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547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3467405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생성된 화면 확인 → 마음에 안 들면 추가 지시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417320" y="3796589"/>
            <a:ext cx="9948672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"온도 카드를 더 크게" "제목을 팀1 모니터로" — 대화로 다듬어요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02920" y="4323283"/>
            <a:ext cx="11183112" cy="801014"/>
          </a:xfrm>
          <a:prstGeom prst="roundRect">
            <a:avLst>
              <a:gd name="adj" fmla="val 1027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513478"/>
            <a:ext cx="420624" cy="420624"/>
          </a:xfrm>
          <a:prstGeom prst="ellipse">
            <a:avLst/>
          </a:prstGeom>
          <a:solidFill>
            <a:srgbClr val="12A150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49519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4414723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보기로 HTML·CSS·JS 구조 확인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417320" y="4743907"/>
            <a:ext cx="9948672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2회차에 배운 3형제가 그대로 보여요 — AI 결과를 '검토'할 수 있는 사람이 진짜 개발자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02920" y="5270602"/>
            <a:ext cx="11183112" cy="801014"/>
          </a:xfrm>
          <a:prstGeom prst="roundRect">
            <a:avLst>
              <a:gd name="adj" fmla="val 1027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460797"/>
            <a:ext cx="420624" cy="420624"/>
          </a:xfrm>
          <a:prstGeom prst="ellipse">
            <a:avLst/>
          </a:prstGeom>
          <a:solidFill>
            <a:srgbClr val="12A150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442509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17320" y="5362042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fetch 주소를 우리 웹앱 URL로 연결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1417320" y="5691226"/>
            <a:ext cx="9948672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"fetch로 [URL]에서 데이터를 가져와 표시해줘"라고 지시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02920" y="5833872"/>
            <a:ext cx="11183112" cy="530352"/>
          </a:xfrm>
          <a:prstGeom prst="roundRect">
            <a:avLst>
              <a:gd name="adj" fmla="val 15517"/>
            </a:avLst>
          </a:prstGeom>
          <a:solidFill>
            <a:srgbClr val="EDF3FE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5833872"/>
            <a:ext cx="10634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활용의 핵심 = 요구사항을 명확한 문장으로 쓰는 능력. 모호하게 시키면 모호한 결과가 나와요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4회차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화면으로 확인 — AI Studio 작업 화면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 → 확인 → 수정 지시의 반복 — 대화하며 만드는 개발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5212080" cy="4142232"/>
          </a:xfrm>
          <a:prstGeom prst="roundRect">
            <a:avLst>
              <a:gd name="adj" fmla="val 2208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642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순서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77240" y="2121408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03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43584" y="206654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aistudio.google.com → Build 메뉴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43584" y="2359152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구글 계정으로 로그인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2812694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9440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43584" y="275783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입력 후 생성 대기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243584" y="3050438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요소·디자인 규칙·동작 규칙을 모두 담은 문장으로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" y="3503981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48569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43584" y="3449117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미리보기에서 버튼을 직접 눌러보기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243584" y="3741725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스케치와 다른 점을 메모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77240" y="4195267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17697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43584" y="4140403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 지시 입력 → 재생성 확인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243584" y="4433011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"온도 카드를 더 크게" 처럼 한 번에 하나씩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77240" y="4886554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86826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43584" y="483169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보기로 HTML·JS 구조 확인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243584" y="5124298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fetch 주소를 우리 웹앱 URL로 바꾸는 위치 파악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989320" y="1481328"/>
            <a:ext cx="5696712" cy="1956816"/>
          </a:xfrm>
          <a:prstGeom prst="roundRect">
            <a:avLst>
              <a:gd name="adj" fmla="val 4673"/>
            </a:avLst>
          </a:prstGeom>
          <a:solidFill>
            <a:srgbClr val="EDF3FE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6309360" y="1481328"/>
            <a:ext cx="505663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  스크린샷 자리</a:t>
            </a:r>
            <a:endParaRPr lang="en-US" sz="14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Build 화면 — 프롬프트 입력 칸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5989320" y="3666744"/>
            <a:ext cx="5696712" cy="1956816"/>
          </a:xfrm>
          <a:prstGeom prst="roundRect">
            <a:avLst>
              <a:gd name="adj" fmla="val 4673"/>
            </a:avLst>
          </a:prstGeom>
          <a:solidFill>
            <a:srgbClr val="EDF3FE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6309360" y="3666744"/>
            <a:ext cx="505663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  스크린샷 자리</a:t>
            </a:r>
            <a:endParaRPr lang="en-US" sz="14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생성된 웹앱 미리보기 화면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502920" y="5833872"/>
            <a:ext cx="11183112" cy="530352"/>
          </a:xfrm>
          <a:prstGeom prst="roundRect">
            <a:avLst>
              <a:gd name="adj" fmla="val 15517"/>
            </a:avLst>
          </a:prstGeom>
          <a:solidFill>
            <a:srgbClr val="EDF3FE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5833872"/>
            <a:ext cx="10634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확인 포인트 : 생성 결과는 팀마다 달라요 — 정답은 'AI 화면'이 아니라 '우리 스케치'다. 스케치 기준으로 판단해요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4회차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원문 — 그대로 복사해서 시작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] 부분만 우리 팀 것으로 바꿔요 — 이 문장이 오늘의 '설계도'다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7498080" cy="4736592"/>
          </a:xfrm>
          <a:prstGeom prst="roundRect">
            <a:avLst>
              <a:gd name="adj" fmla="val 1931"/>
            </a:avLst>
          </a:prstGeom>
          <a:solidFill>
            <a:srgbClr val="101A3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64208"/>
            <a:ext cx="6995160" cy="4370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E4E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교실 환경 모니터 웹앱을 만들어줘.</a:t>
            </a:r>
            <a:endParaRPr lang="en-US" sz="1200" dirty="0"/>
          </a:p>
          <a:p>
            <a:pPr indent="0" marL="0">
              <a:lnSpc>
                <a:spcPts val="1656"/>
              </a:lnSpc>
              <a:buNone/>
            </a:pPr>
            <a:endParaRPr lang="en-US" sz="1200" dirty="0"/>
          </a:p>
          <a:p>
            <a:pPr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E4E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구성 :</a:t>
            </a:r>
            <a:endParaRPr lang="en-US" sz="1200" dirty="0"/>
          </a:p>
          <a:p>
            <a:pPr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E4E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상단 제목 : "[1팀] 교실 환경 모니터"</a:t>
            </a:r>
            <a:endParaRPr lang="en-US" sz="1200" dirty="0"/>
          </a:p>
          <a:p>
            <a:pPr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E4E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큰 카드 4개 : 온도, 습도, 조도, 소음</a:t>
            </a:r>
            <a:endParaRPr lang="en-US" sz="1200" dirty="0"/>
          </a:p>
          <a:p>
            <a:pPr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E4E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카드마다 큰 숫자와 단위 표시</a:t>
            </a:r>
            <a:endParaRPr lang="en-US" sz="1200" dirty="0"/>
          </a:p>
          <a:p>
            <a:pPr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E4E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하단 : LED 켜기 / LED 끄기 버튼 2개</a:t>
            </a:r>
            <a:endParaRPr lang="en-US" sz="1200" dirty="0"/>
          </a:p>
          <a:p>
            <a:pPr indent="0" marL="0">
              <a:lnSpc>
                <a:spcPts val="1656"/>
              </a:lnSpc>
              <a:buNone/>
            </a:pPr>
            <a:endParaRPr lang="en-US" sz="1200" dirty="0"/>
          </a:p>
          <a:p>
            <a:pPr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E4E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규칙 :</a:t>
            </a:r>
            <a:endParaRPr lang="en-US" sz="1200" dirty="0"/>
          </a:p>
          <a:p>
            <a:pPr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E4E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파란 계열, 모바일 우선, 버튼 크게, 글자 크게</a:t>
            </a:r>
            <a:endParaRPr lang="en-US" sz="1200" dirty="0"/>
          </a:p>
          <a:p>
            <a:pPr indent="0" marL="0">
              <a:lnSpc>
                <a:spcPts val="1656"/>
              </a:lnSpc>
              <a:buNone/>
            </a:pPr>
            <a:endParaRPr lang="en-US" sz="1200" dirty="0"/>
          </a:p>
          <a:p>
            <a:pPr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E4E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동작 규칙 :</a:t>
            </a:r>
            <a:endParaRPr lang="en-US" sz="1200" dirty="0"/>
          </a:p>
          <a:p>
            <a:pPr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E4E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- 10초마다 [우리 팀 웹앱 URL]?mode=latest 에서</a:t>
            </a:r>
            <a:endParaRPr lang="en-US" sz="1200" dirty="0"/>
          </a:p>
          <a:p>
            <a:pPr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E4E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최신 값을 가져와 카드에 표시해줘</a:t>
            </a:r>
            <a:endParaRPr lang="en-US" sz="1200" dirty="0"/>
          </a:p>
          <a:p>
            <a:pPr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E4E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LED 버튼을 누르면</a:t>
            </a:r>
            <a:endParaRPr lang="en-US" sz="1200" dirty="0"/>
          </a:p>
          <a:p>
            <a:pPr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E4E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[우리 팀 웹앱 URL]?mode=set&amp;cmd=ON (또는 OFF)</a:t>
            </a:r>
            <a:endParaRPr lang="en-US" sz="1200" dirty="0"/>
          </a:p>
          <a:p>
            <a:pPr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E4E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으로 요청을 보내줘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75320" y="1499616"/>
            <a:ext cx="3410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읽기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75320" y="1938528"/>
            <a:ext cx="3410712" cy="427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구성 → 디자인 규칙 → 동작 규칙, 3단 구조로 쓰면 실수가 없어요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mode=latest·set 분기는 배포 템플릿 Apps Script에 포함 — 이름만 짝 맞추면 동작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URL 붙여넣기 전 끝이 /exec 인지 확인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 후엔 스케치·명세와 비교 → 한 번에 하나씩 수정 지시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4회차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따라하기 ⑧ 웹앱을 폰에 '앱처럼' 설치 (PWA)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링크로 열고 홈 화면에 추가하면 아이콘이 생겨요 — 이것이 PWA(설치형 웹앱)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5212080" cy="4142232"/>
          </a:xfrm>
          <a:prstGeom prst="roundRect">
            <a:avLst>
              <a:gd name="adj" fmla="val 2208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642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순서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77240" y="2121408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03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43584" y="206654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Studio에서 공유/배포 버튼 → 앱 링크 만들기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43584" y="2359152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버튼 이름·위치는 업데이트로 달라질 수 있어요 — '공유(Share)' 계열을 찾자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2812694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9440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43584" y="275783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링크를 팀 채널로 전송 (또는 QR 생성)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243584" y="3050438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검색창에 'QR 생성기' → 링크 붙여넣기 → 화면에 띄우면 모두 스캔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" y="3503981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48569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43584" y="3449117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 브라우저로 링크 열기 → 동작 확인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243584" y="3741725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 4개와 버튼이 정상 표시되는지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77240" y="4195267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17697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43584" y="4140403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홈 화면에 추가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243584" y="4433011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안드로이드 : 메뉴(⋮) → '홈 화면에 추가' / 아이폰 : 공유(⬆) → '홈 화면에 추가'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77240" y="4886554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86826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43584" y="483169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홈 화면 아이콘 터치로 실행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243584" y="5124298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주소창 없는 전체 화면 — 겉보기엔 완전한 앱!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989320" y="1481328"/>
            <a:ext cx="5696712" cy="1956816"/>
          </a:xfrm>
          <a:prstGeom prst="roundRect">
            <a:avLst>
              <a:gd name="adj" fmla="val 4673"/>
            </a:avLst>
          </a:prstGeom>
          <a:solidFill>
            <a:srgbClr val="EDF3FE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6309360" y="1481328"/>
            <a:ext cx="505663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  스크린샷 자리</a:t>
            </a:r>
            <a:endParaRPr lang="en-US" sz="14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Studio — 공유/배포 버튼과 생성된 링크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5989320" y="3666744"/>
            <a:ext cx="5696712" cy="1956816"/>
          </a:xfrm>
          <a:prstGeom prst="roundRect">
            <a:avLst>
              <a:gd name="adj" fmla="val 4673"/>
            </a:avLst>
          </a:prstGeom>
          <a:solidFill>
            <a:srgbClr val="EDF3FE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6309360" y="3666744"/>
            <a:ext cx="505663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  스크린샷 자리</a:t>
            </a:r>
            <a:endParaRPr lang="en-US" sz="14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 홈 화면 — 설치된 우리 앱 아이콘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502920" y="5833872"/>
            <a:ext cx="11183112" cy="530352"/>
          </a:xfrm>
          <a:prstGeom prst="roundRect">
            <a:avLst>
              <a:gd name="adj" fmla="val 15517"/>
            </a:avLst>
          </a:prstGeom>
          <a:solidFill>
            <a:srgbClr val="EDF3FE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5833872"/>
            <a:ext cx="10634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확인 포인트 : 웹앱을 수정해도 링크가 같으면 재설치 불필요 — 폰에서 새로고침만 하면 최신 화면이 돼요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4회차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심화 — 공개 API로 바깥 날씨 붙이기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= 서비스가 열어 둔 '데이터 창구'. 주소로 요청하면 JSON으로 응답 — 우리 doGet과 같은 원리!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7498080" cy="4142232"/>
          </a:xfrm>
          <a:prstGeom prst="roundRect">
            <a:avLst>
              <a:gd name="adj" fmla="val 2208"/>
            </a:avLst>
          </a:prstGeom>
          <a:solidFill>
            <a:srgbClr val="101A3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64208"/>
            <a:ext cx="6995160" cy="377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E4E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[추가 지시 프롬프트 — 그대로 복사]</a:t>
            </a:r>
            <a:endParaRPr lang="en-US" sz="1200" dirty="0"/>
          </a:p>
          <a:p>
            <a:pPr indent="0" marL="0">
              <a:lnSpc>
                <a:spcPts val="1656"/>
              </a:lnSpc>
              <a:buNone/>
            </a:pPr>
            <a:endParaRPr lang="en-US" sz="1200" dirty="0"/>
          </a:p>
          <a:p>
            <a:pPr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E4E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Open-Meteo API(회원가입·키가 필요 없는</a:t>
            </a:r>
            <a:endParaRPr lang="en-US" sz="1200" dirty="0"/>
          </a:p>
          <a:p>
            <a:pPr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E4E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날씨 API)를 사용해서,</a:t>
            </a:r>
            <a:endParaRPr lang="en-US" sz="1200" dirty="0"/>
          </a:p>
          <a:p>
            <a:pPr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E4E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위도 [37.57] 경도 [126.98] 위치의</a:t>
            </a:r>
            <a:endParaRPr lang="en-US" sz="1200" dirty="0"/>
          </a:p>
          <a:p>
            <a:pPr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E4E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기온과 습도를 가져와</a:t>
            </a:r>
            <a:endParaRPr lang="en-US" sz="1200" dirty="0"/>
          </a:p>
          <a:p>
            <a:pPr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E4E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"바깥 날씨" 카드로 추가해줘.</a:t>
            </a:r>
            <a:endParaRPr lang="en-US" sz="1200" dirty="0"/>
          </a:p>
          <a:p>
            <a:pPr indent="0" marL="0">
              <a:lnSpc>
                <a:spcPts val="1656"/>
              </a:lnSpc>
              <a:buNone/>
            </a:pPr>
            <a:endParaRPr lang="en-US" sz="1200" dirty="0"/>
          </a:p>
          <a:p>
            <a:pPr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E4E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교실 온도 카드와 나란히 배치해서</a:t>
            </a:r>
            <a:endParaRPr lang="en-US" sz="1200" dirty="0"/>
          </a:p>
          <a:p>
            <a:pPr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E4E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안팎이 비교되게 해줘.</a:t>
            </a:r>
            <a:endParaRPr lang="en-US" sz="1200" dirty="0"/>
          </a:p>
          <a:p>
            <a:pPr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E4E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10분마다 자동으로 갱신해줘.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75320" y="1499616"/>
            <a:ext cx="3410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읽기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75320" y="1938528"/>
            <a:ext cx="3410712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Open-Meteo는 키 없이 무료 — 학교 실습에 최적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위도·경도는 지도 앱에서 학교를 길게 눌러 확인 후 교체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키가 필요한 API(미세먼지 등)는 키를 발급받아 "이 키를 사용해줘 : [키]"라고 프롬프트에 함께 주면 돼요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'교실 안(우리 센서) vs 바깥(API)' 비교는 발표에서 반짝이는 포인트!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5833872"/>
            <a:ext cx="11183112" cy="530352"/>
          </a:xfrm>
          <a:prstGeom prst="roundRect">
            <a:avLst>
              <a:gd name="adj" fmla="val 15517"/>
            </a:avLst>
          </a:prstGeom>
          <a:solidFill>
            <a:srgbClr val="FDF3E3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5833872"/>
            <a:ext cx="10634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5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우리도 오늘 API를 만든 것이에요 — 우리 웹앱 URL이 곧 '우리 팀의 API 주소'. 세상의 API는 그것의 큰 버전일 뿐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4회차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12A15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MISSION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514600" y="338328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미니 프로젝트 : 교실 환경 모니터 완성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1183112" cy="777240"/>
          </a:xfrm>
          <a:prstGeom prst="roundRect">
            <a:avLst>
              <a:gd name="adj" fmla="val 11765"/>
            </a:avLst>
          </a:prstGeom>
          <a:solidFill>
            <a:srgbClr val="EAF7F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43000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A1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 </a:t>
            </a:r>
            <a:pPr indent="0" marL="0">
              <a:buNone/>
            </a:pPr>
            <a:r>
              <a:rPr lang="en-US" sz="15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 웹앱에서 교실 온습도 확인 + LED 원격 제어 + 모든 기록이 시트에 저장 + CSV 다운로드까지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11183112" cy="3200400"/>
          </a:xfrm>
          <a:prstGeom prst="roundRect">
            <a:avLst>
              <a:gd name="adj" fmla="val 2857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3500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 조건 체크리스트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834640"/>
            <a:ext cx="1045159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☑"/>
            </a:pPr>
            <a:r>
              <a:rPr lang="en-US" sz="14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ESP32 → 시트 자동 업로드 (10초)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☑"/>
            </a:pPr>
            <a:r>
              <a:rPr lang="en-US" sz="14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웹앱에서 최신 온도·습도·조도·소음 4종 표시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☑"/>
            </a:pPr>
            <a:r>
              <a:rPr lang="en-US" sz="14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웹앱 버튼 → 시트 명령 → LED 반응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☑"/>
            </a:pPr>
            <a:r>
              <a:rPr lang="en-US" sz="14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시트 : 파일 → 다운로드 → CSV 로 데이터 내려받기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☑"/>
            </a:pPr>
            <a:r>
              <a:rPr lang="en-US" sz="14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팀원 전원 폰에 PWA 설치 (오늘 배운 방법)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☑"/>
            </a:pPr>
            <a:r>
              <a:rPr lang="en-US" sz="14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시스템이 팀 프로젝트의 '뼈대 템플릿'이 돼요 — 소중히 보관!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02920" y="5532120"/>
            <a:ext cx="11183112" cy="777240"/>
          </a:xfrm>
          <a:prstGeom prst="roundRect">
            <a:avLst>
              <a:gd name="adj" fmla="val 11765"/>
            </a:avLst>
          </a:prstGeom>
          <a:solidFill>
            <a:srgbClr val="FDF3E3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5532120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5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힌트  </a:t>
            </a:r>
            <a:pPr indent="0" marL="0">
              <a:buNone/>
            </a:pPr>
            <a:r>
              <a:rPr lang="en-US" sz="1350" dirty="0">
                <a:solidFill>
                  <a:srgbClr val="6B4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 되면 흐름 순서대로 점검 : ① URL 직접 열기 ② 시트에 줄 생기나 ③ 시리얼 모니터 에러 확인 — 어느 구간에서 끊겼는지 찾는 게 디버깅이에요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4회차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정리 — 구조 A vs 구조 B, 언제 무엇을 쓸까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표를 팀 프로젝트에서 '선택의 근거'로 쓰게 돼요</a:t>
            </a:r>
            <a:endParaRPr lang="en-US" sz="14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17904"/>
          <a:ext cx="1118311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297680"/>
                <a:gridCol w="459943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비교 항목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구조 A : ESP32 단독 (3회차)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구조 B : 클라우드 연동 (오늘)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인터넷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불필요 — ESP32가 WiFi 생성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필요 — 폰·보드 모두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웹페이지 위치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ESP32 내부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구글 (AI Studio)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데이터 저장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전원 끄면 소멸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시트에 영구 저장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통계·CSV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어려움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쉬움 (시트가 곧 표)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접속 범위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근거리 (같은 WiFi)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어디서든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반응 속도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즉시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폴링 주기만큼 지연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어울리는 일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원리 학습 · 근거리 리모컨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기록·통계가 필요한 서비스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833872"/>
            <a:ext cx="11183112" cy="530352"/>
          </a:xfrm>
          <a:prstGeom prst="roundRect">
            <a:avLst>
              <a:gd name="adj" fmla="val 15517"/>
            </a:avLst>
          </a:prstGeom>
          <a:solidFill>
            <a:srgbClr val="EDF3FE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5833872"/>
            <a:ext cx="10634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팀 프로젝트는 기록과 통계가 핵심 → 구조 B를 표준으로 사용해요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4회차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자주 막히는 문제 해결소 — 4회차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11183112" cy="1042416"/>
          </a:xfrm>
          <a:prstGeom prst="roundRect">
            <a:avLst>
              <a:gd name="adj" fmla="val 7895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402336" cy="402336"/>
          </a:xfrm>
          <a:prstGeom prst="ellipse">
            <a:avLst/>
          </a:prstGeom>
          <a:solidFill>
            <a:srgbClr val="E8930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73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71600" y="1463040"/>
            <a:ext cx="5120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URL을 열면 '액세스 권한이 없습니다'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537960" y="1371600"/>
            <a:ext cx="3657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949440" y="1463040"/>
            <a:ext cx="4663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배포 설정의 액세스가 '모든 사용자'인지 재확인 → 수정했으면 [배포 관리]에서 새 버전으로 재배포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578608"/>
            <a:ext cx="11183112" cy="1042416"/>
          </a:xfrm>
          <a:prstGeom prst="roundRect">
            <a:avLst>
              <a:gd name="adj" fmla="val 7895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898648"/>
            <a:ext cx="402336" cy="402336"/>
          </a:xfrm>
          <a:prstGeom prst="ellipse">
            <a:avLst/>
          </a:prstGeom>
          <a:solidFill>
            <a:srgbClr val="E8930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0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371600" y="2670048"/>
            <a:ext cx="5120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코드를 고쳤는데 반영이 안 돼요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37960" y="2578608"/>
            <a:ext cx="3657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49440" y="2670048"/>
            <a:ext cx="4663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Apps Script는 수정 후 반드시 재배포 필요 — 배포 관리 → 연필 → 새 버전 → 배포 (URL이 바뀌면 ESP32 코드의 URL도 교체!)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3785616"/>
            <a:ext cx="11183112" cy="1042416"/>
          </a:xfrm>
          <a:prstGeom prst="roundRect">
            <a:avLst>
              <a:gd name="adj" fmla="val 7895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105656"/>
            <a:ext cx="402336" cy="402336"/>
          </a:xfrm>
          <a:prstGeom prst="ellipse">
            <a:avLst/>
          </a:prstGeom>
          <a:solidFill>
            <a:srgbClr val="E8930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087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371600" y="3877056"/>
            <a:ext cx="5120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ESP32가 WiFi에 연결이 안 돼요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537960" y="3785616"/>
            <a:ext cx="3657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49440" y="3877056"/>
            <a:ext cx="4663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핫스팟 이름·비번 오타 확인, 2.4GHz인지 확인(ESP32는 5GHz 불가)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4992624"/>
            <a:ext cx="11183112" cy="1042416"/>
          </a:xfrm>
          <a:prstGeom prst="roundRect">
            <a:avLst>
              <a:gd name="adj" fmla="val 7895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5312664"/>
            <a:ext cx="402336" cy="402336"/>
          </a:xfrm>
          <a:prstGeom prst="ellipse">
            <a:avLst/>
          </a:prstGeom>
          <a:solidFill>
            <a:srgbClr val="E8930C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294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371600" y="5084064"/>
            <a:ext cx="5120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요청은 보냈는데 시트에 안 쌓여요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537960" y="4992624"/>
            <a:ext cx="3657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49440" y="5084064"/>
            <a:ext cx="4663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setFollowRedirects 줄이 있는지 확인 — 구글은 요청을 한 번 '재안내'하는데 이걸 따라가야 해요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4회차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6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수업 정리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6035040" cy="3931920"/>
          </a:xfrm>
          <a:prstGeom prst="roundRect">
            <a:avLst>
              <a:gd name="adj" fmla="val 2326"/>
            </a:avLst>
          </a:prstGeom>
          <a:solidFill>
            <a:srgbClr val="22335F"/>
          </a:solidFill>
          <a:ln w="12700">
            <a:solidFill>
              <a:srgbClr val="3A4C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91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B0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우리가 해낸 것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0120" y="2194560"/>
            <a:ext cx="5394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✓"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구글 시트를 데이터베이스로, Apps Script를 서버로 만들었어요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✓"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ESP32가 10초마다 클라우드에 데이터를 올려요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✓"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웹앱 → 시트 → ESP32 원격 제어(폴링)를 완성했어요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✓"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Studio로 화면을 생성하고 연결했어요 — 뼈대 템플릿 확보!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949440" y="1463040"/>
            <a:ext cx="4617720" cy="3931920"/>
          </a:xfrm>
          <a:prstGeom prst="roundRect">
            <a:avLst>
              <a:gd name="adj" fmla="val 2326"/>
            </a:avLst>
          </a:prstGeom>
          <a:solidFill>
            <a:srgbClr val="2E6BE6"/>
          </a:solidFill>
          <a:ln/>
        </p:spPr>
      </p:sp>
      <p:sp>
        <p:nvSpPr>
          <p:cNvPr id="7" name="Text 5"/>
          <p:cNvSpPr/>
          <p:nvPr/>
        </p:nvSpPr>
        <p:spPr>
          <a:xfrm>
            <a:off x="7223760" y="1691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시간 예고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223760" y="214884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5회차 : 팀 프로젝트 출발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223760" y="2834640"/>
            <a:ext cx="4069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드디어 우리 팀 프로젝트 확정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 명세서 · 화면 스케치 · 시트 설계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Studio로 우리 프로젝트 웹앱 제작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템플릿이 그대로 출발점이 돼요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57150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C9D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3대 보물 : ① 웹앱 URL ② 시트 ③ ESP32 코드 — 팀 드라이브에 반드시 백업!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F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4회차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2026-07-17T17:49:16Z</dcterms:created>
  <dcterms:modified xsi:type="dcterms:W3CDTF">2026-07-17T17:49:16Z</dcterms:modified>
</cp:coreProperties>
</file>