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지난주 타이머를 상기시키고, 오늘은 '보드의 감각 + 나의 첫 웹페이지' 두 갈래임을 소개해요.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전반(센서)·후반(웹)으로 나뉜다는 점을 시간표로 보여 주고 목표를 함께 읽어요.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시작. 진동·홀·빛 셀을 팀별로 배부해요.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디지털/아날로그를 '스위치 vs 밝기조절등'에 비유해요. 4095의 이유는 가볍게만 다뤄요.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표①을 훑으며 오늘 만질 센서에 표시해 주세요. 아날로그 셀의 A2~A5 규칙을 재확인!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표②는 '6회차에 팀별로 골라 쓴다' 수준으로 예고만 해요. 블록 먼저 → C 전환 요령을 강조해요.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 업로드 후 두드리기·가리기 시범을 보여요. 시리얼 모니터는 다음 슬라이드에서 함께 열어요.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115200 설정을 전체 확인하고, 값 관찰 시간을 2~3분 충분히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무드등 미션 15분. map의 뒤 두 숫자를 바꾸는 '반전'이 핵심 힌트예요.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2교시 시작. 온습도·초음파 셀을 배부해요.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DHT의 2초 간격과 nan 대처를 미리 언급해요. 입김 테스트가 재미 포인트!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박쥐 비유로 원리를 설명하고, 자로 실측해 비교하면 신뢰가 생겨요.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if를 블록의 [만약]과 연결해요. 기준값 10을 바꿔 보는 실험을 유도해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경보기 미션 15분. 심화 3단계는 else if 구조를 힌트로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3교시 시작. 노트북 중심으로 전환하고 메모장(또는 에디터)을 준비시켜요.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HTML·CSS·JS를 골격·옷·행동에 비유해요. '오늘 셋을 모두 만난다'고 예고해요.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태그를 하나씩 직접 타이핑하게 해요. 닫는 태그를 빼 보는 실험도 허용하면 배움이 깊어져요.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저장 형식(모든 파일)과 UTF-8이 최대 함정이에요. 수정→저장→F5 루틴을 몸에 익히게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색상 코드·padding·radius를 직접 바꿔 보게 해요. 즉각 바뀌는 화면이 주는 재미를 살려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4교시 시작. '버튼이 드디어 반응하는 순간'이라고 기대감을 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onclick과 id의 연결을 화살표로 그려 설명해요. 아직 진짜 LED는 안 켜진다는 점을 명확히!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F12 Console을 함께 열고, 일부러 오타를 내서 에러를 읽는 연습을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fetch 한 줄을 소개하고 '받아줄 상대'가 다음 주의 주제임을 예고하며 호기심을 남겨요.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리모컨 페이지 완성 20분. 파일 보관(USB/드라이브)을 강하게 안내 — 다음 주의 재료예요!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팀별 막힘 사례를 공유해요. 철자·id 불일치가 대부분임을 확인시켜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후 예고: '이 페이지가 다음 주에 보드 안으로 들어갑니다.' 파일 지참 리마인드!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2회차 / 7회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보드가 세상을 느끼는 법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나의 첫 웹페이지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센서로 세상을 숫자로 읽고, HTML·CSS·JS로 화면을 직접 만들어요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진동·홀·빛 — 첫 센서들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56432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21024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온습도·초음파 + 경보기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2784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37376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HTML·CSS로 첫 페이지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89136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53728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JS로 버튼에 생명 불어넣기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입력 + HTML·CSS·JS 웹 기본기 · 4시간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532120" cy="4892040"/>
          </a:xfrm>
          <a:prstGeom prst="roundRect">
            <a:avLst>
              <a:gd name="adj" fmla="val 1869"/>
            </a:avLst>
          </a:prstGeom>
          <a:solidFill>
            <a:srgbClr val="EDF3F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3911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입력과 아날로그 입력의 차이를 설명하고 센서 값을 읽을 수 있어요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9923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값에 따라 출력장치가 반응하는 '입력→판단→출력' 프로그램을 만들 수 있어요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95935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HTML·CSS·JS의 역할을 구분하고, 버튼이 동작하는 웹페이지를 직접 작성해요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422392" cy="4892040"/>
          </a:xfrm>
          <a:prstGeom prst="roundRect">
            <a:avLst>
              <a:gd name="adj" fmla="val 1869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 (50분 수업 + 10분 휴식)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1488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1488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07808" y="207568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입력이란? · 진동·홀(디지털) · 빛·소리(아날로그) · 빛 반응 무드등 미션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0" y="315468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154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07808" y="308152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온습도 · 초음파 거리 측정 · 조건문 · 접근 경보기 미션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1605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1605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07808" y="408736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웹의 원리 · HTML 뼈대 · CSS 꾸미기 · '내 리모컨' 페이지 뼈대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0" y="516636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663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07808" y="50932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 동작 넣기 · 클릭 이벤트 · fetch 맛보기 · 리모컨 완성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— 보드의 감각기관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1회차가 '말하기(출력)'였다면, 오늘은 '듣기(입력)'다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입력 vs 아날로그 입력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센서가 세상을 숫자로 번역하는 두 가지 방식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54396" cy="4142232"/>
          </a:xfrm>
          <a:prstGeom prst="roundRect">
            <a:avLst>
              <a:gd name="adj" fmla="val 220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00784"/>
            <a:ext cx="4942332" cy="475488"/>
          </a:xfrm>
          <a:prstGeom prst="roundRect">
            <a:avLst>
              <a:gd name="adj" fmla="val 15385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700784"/>
            <a:ext cx="49423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: 둘 중 하나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395728"/>
            <a:ext cx="486918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값이 0 또는 1, 딱 두 가지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눌렸다/안 눌렸어요 · 켜짐/꺼짐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진동센서, 홀센서(자석 감지)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digitalRead(핀) 으로 읽어요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1636" y="1481328"/>
            <a:ext cx="5454396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87668" y="1700784"/>
            <a:ext cx="4942332" cy="475488"/>
          </a:xfrm>
          <a:prstGeom prst="roundRect">
            <a:avLst>
              <a:gd name="adj" fmla="val 15385"/>
            </a:avLst>
          </a:prstGeom>
          <a:solidFill>
            <a:srgbClr val="12A150"/>
          </a:solidFill>
          <a:ln/>
        </p:spPr>
      </p:sp>
      <p:sp>
        <p:nvSpPr>
          <p:cNvPr id="10" name="Text 8"/>
          <p:cNvSpPr/>
          <p:nvPr/>
        </p:nvSpPr>
        <p:spPr>
          <a:xfrm>
            <a:off x="6487668" y="1700784"/>
            <a:ext cx="49423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아날로그 : 연속된 정도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24244" y="2395728"/>
            <a:ext cx="486918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값이 0 ~ 4095 사이 숫자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밝기 '정도' · 시끄러운 '정도'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: 빛, 소리, 토양습도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analogRead(핀) 으로 읽어요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4095? ESP32는 전압을 4096단계(12비트)로 쪼개 읽어요 — 컴퓨터가 다룰 수 있는 건 결국 숫자이기 때문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DSL 세트 탐험 ① 바로 읽는 센서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analogRead / digitalRead 한 줄이면 읽혀요 — 오늘의 주인공들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291840"/>
                <a:gridCol w="35021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장치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종류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읽는 법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우리 프로젝트에서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빛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아날로그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analogRead(핀)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화분 일조량 · 환경 모니터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아날로그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analogRead(핀)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교실 소음 · 호출 감지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토양습도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아날로그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analogRead — A2~A5 위치!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화분 핵심 (6회차 연결)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진동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digitalRead(핀)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충격·움직임 감지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홀(자기)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digitalRead + 자석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 열림 감지 (출석·안전)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초음파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측정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pulseIn() → 거리 계산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우산 거치 · 접근 경보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아날로그 셀의 자리 규칙 : A2~A5 위치 포트(GPIO 34·35·36·39) — WiFi와 충돌하지 않는 자리예요 (포트-핀맵 카드!)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DSL 세트 탐험 ② 라이브러리 센서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도구상자(#include)를 불러와 전용 함수로 읽어요 — 6회차에 팀별로 골라 써요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782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장치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읽는 법(예)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우리 프로젝트에서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온습도(DHT)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readTemperature() · readHumidity()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화분 · 환경 모니터 (오늘 실습!)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물온도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방수형 — 물에 직접 담가 측정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화분 물탱크 온도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저울처럼 무게를 숫자로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매점 실물 재고 · 우산 감지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대기압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기압 변화 읽기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환경 모니터 보조(날씨 관찰)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CO2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농도 읽기 (예열 필요)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환기 알림 — 환경 모니터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미세먼지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공기 중 입자 농도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실내 공기질 (변화 비교용)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자이로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기울기·움직임 읽기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거치대 기울임·낙하 감지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심박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맥박 파형 읽기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보건·안전 체험 코너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요령 : 블록코딩에 전용 블록이 있으면 블록으로 먼저 확인 → 블록↔C 전환으로 코드를 얻는 것이 지름길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진동과 빛 읽기 — 시리얼 모니터로 관찰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시리얼 모니터 = 보드가 컴퓨터에 보내는 실시간 일기장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VIB   27  // 진동 ★핀맵 카드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LIGHT 34  // 빛 (A2~A5 위치)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Serial.begin(115200); // 통신 시작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pinMode(VIB, INPUT);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 = digitalRead(VIB);  // 0 or 1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l = analogRead(LIGHT); // 0~4095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Serial.print("vib:"); Serial.print(v);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Serial.print(" light:"); Serial.println(l);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delay(300);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Serial.begin : 보드↔PC 대화 채널 열기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 우상단 돋보기 = 시리얼 모니터 (속도 115200 맞추기)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책상을 톡톡 두드리면 vib가 0↔1로 튀어요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센서를 손으로 가리면 light가 뚝 떨어져요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'관찰' 습관이 디버깅의 절반이에요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시리얼 모니터 사용법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오늘부터 7회차까지 매일 쓰는 도구 — 확실히 익혀 둬요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우상단 돋보기 아이콘 클릭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툴 → 시리얼 모니터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우하단 속도를 115200 baud로 변경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코드의 Serial.begin(115200)과 같아야 글자가 안 깨져요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빛센서를 손으로 가렸어요 떼며 숫자 관찰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~ 4095 사이에서 크게 오르내리는지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책상을 두드리며 진동 값 0 ↔ 1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충격이 온 순간에만 튀는지 관찰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'자동 스크롤' 체크 확인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값이 계속 아래로 흐르게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시리얼 모니터 — vib / light 값이 출력되는 화면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우하단 — 115200 baud 선택 부분 확대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글자가 외계어로 깨져 보이면 속도(baud) 불일치 — 115200으로 맞추면 해결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2A1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14600" y="3383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① 빛 반응 무드등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A1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교실이 어두워질수록 내장 LED가 밝아져요 (0~4095 밝기 값을 LED 밝기로 '반대로' 번역)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83112" cy="3200400"/>
          </a:xfrm>
          <a:prstGeom prst="roundRect">
            <a:avLst>
              <a:gd name="adj" fmla="val 2857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451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시리얼 모니터로 빛센서 값의 범위 확인 (가장 밝을 때 · 손으로 가렸을 때)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map() 함수로 0~4095 → 255~0 변환 (반전!)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센서를 가리면 LED가 밝아지고, 떼면 어두워지는지 확인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5321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  </a:t>
            </a:r>
            <a:pPr indent="0" marL="0">
              <a:buNone/>
            </a:pPr>
            <a:r>
              <a:rPr lang="en-US" sz="1350" dirty="0">
                <a:solidFill>
                  <a:srgbClr val="6B4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 b = map(l, 0, 4095, 255, 0); analogWrite(LED, b); — map은 '범위 번역기'. 뒤 두 숫자를 바꾸면 방향이 반전돼요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온습도·초음파 + 판단하는 보드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읽기만 하면 관찰, 읽고 판단하면 '스마트'가 돼요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온습도 센서(DHT) — 교실의 공기를 숫자로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화분 프로젝트·환경 모니터의 핵심 센서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&lt;DHT.h&gt;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DHTPIN 19   // ★핀맵 확인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DHT dht(DHTPIN, DHT11);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Serial.begin(115200);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dht.begin();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t = dht.readTemperature();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h = dht.readHumidity();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Serial.print(t); Serial.print("C ");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Serial.print(h); Serial.println("%");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delay(2000); // 2초 이상 간격!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float = 소수점 있는 숫자 (25.3 같은)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readTemperature / readHumidity 두 함수면 끝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DHT11은 2초에 1번만 측정 가능 — delay 필수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값이 nan이면? 배선·핀번호·간격을 확인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초음파 센서 — 박쥐처럼 거리 재기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소리를 쏘고, 메아리가 돌아오는 시간으로 거리를 계산해요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TRIG 5  // 발사 ★핀맵 확인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ECHO 4  // 수신 ★핀맵 확인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readDistance() {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 LOW); delayMicroseconds(2);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 HIGH); delayMicroseconds(10);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 LOW);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t = pulseIn(ECHO, HIGH); // 왕복시간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 * 0.034 / 2;  // cm로 변환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Serial.println(readDistance());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delay(300);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 속도 초속 340m → 0.034cm/㎲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왕복 시간이므로 ÷2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readDistance()처럼 '내 함수'를 만들면 재사용 가능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우산 대여함의 '우산 있음/없음' 감지가 바로 이 원리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조건문 if — 보드에게 '판단'을 가르치다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→ 판단 → 출력 : 모든 스마트 기기의 뼈대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d = readDistance();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 &lt; 10) {        // 10cm 이내?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lcd.setCursor(0, 1);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lcd.print("WARNING!!    ");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digitalWrite(LED, HIGH);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{               // 아니라면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lcd.setCursor(0, 1);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lcd.print("SAFE         ");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digitalWrite(LED, LOW);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delay(200);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if (조건) { 참일 때 } else { 거짓일 때 }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 &lt; 10 : '10보다 작다'가 참인지 검사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블록코딩의 [만약~라면] 블록과 완전히 같아요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 10을 바꾸면 '민감도'가 바뀌어요 — 직접 실험!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2A1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14600" y="3383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② 가까이 오면 경보!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A1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물체가 10cm 안으로 접근하면 LCD에 WARNING!! + LED 점멸, 멀어지면 SAFE 표시와 함께 조용해져요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83112" cy="3200400"/>
          </a:xfrm>
          <a:prstGeom prst="roundRect">
            <a:avLst>
              <a:gd name="adj" fmla="val 2857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451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초음파로 거리 측정이 시리얼에 정상 출력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10cm 기준으로 경보 동작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 : 거리에 따라 3단계 (SAFE / CAREFUL·느린 점멸 / WARNING·빠른 점멸)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5321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  </a:t>
            </a:r>
            <a:pPr indent="0" marL="0">
              <a:buNone/>
            </a:pPr>
            <a:r>
              <a:rPr lang="en-US" sz="1350" dirty="0">
                <a:solidFill>
                  <a:srgbClr val="6B4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3단계는 if ~ else if ~ else 구조 — 조건을 위에서부터 차례로 검사해요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웹의 기본기 — HTML과 CSS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시키기 전에, 딱 한 번은 내 손으로 만들어 봐요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웹페이지는 세 가지 재료로 만들어요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역할이 다른 세 언어가 한 팀으로 일해요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— 뼈대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'여기 제목, 여기 버튼이 있다' — 내용과 구조를 정해요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 — 꾸밈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'제목은 파랗게, 버튼은 크고 둥글게' — 모양과 색을 정해요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JavaScript — 동작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'버튼을 누르면 이렇게 해라' — 행동과 반응을 정해요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사람에 비유하면 HTML=골격, CSS=옷차림, JS=행동. 오늘 셋을 모두 만나고, 5회차에 AI(AI Studio)가 이걸 대신 써 주는 걸 보게 돼요 — 읽을 줄 알면 고칠 수 있어요!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나의 첫 HTML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메모장(또는 에디터)에 입력 → '리모컨.html'로 저장 → 더블클릭으로 브라우저에서 열기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&lt;title&gt;내 리모컨&lt;/title&gt;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&lt;h1&gt;Team1 리모컨&lt;/h1&gt;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&lt;p&gt;버튼을 눌러 보세요&lt;/p&gt;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&lt;button&gt;LED 켜기&lt;/button&gt;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&lt;button&gt;LED 끄기&lt;/button&gt;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&lt;태그&gt;내용&lt;/태그&gt; — 여는 태그와 닫는 태그가 한 쌍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h1=큰 제목, p=문단, button=버튼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charset="utf-8" 이 있어야 한글이 안 깨져요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후 새로고침(F5)하면 바뀐 게 바로 보여요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닫는 태그를 빼먹으면? 직접 실험해 봐요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저장하고 브라우저로 열기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파일 만들기의 전 과정 — 저장 방법이 절반이에요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메모장 : 파일 → 다른 이름으로 저장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Code 등 에디터가 있으면 그걸 사용해도 좋아요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이름 : 리모컨.html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메모장은 '파일 형식 : 모든 파일'로 바꿔야 .txt가 안 붙어요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인코딩 : UTF-8 선택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깨짐 방지의 핵심!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위치 : 바탕화면의 팀 폴더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주에 또 쓰니 찾기 쉬운 곳에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더블클릭 → 브라우저에서 열림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루틴 : 수정 → Ctrl+S → 브라우저 F5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이름으로 저장 창 — 파일명 · 형식 · 인코딩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브라우저에 열린 나의 첫 페이지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주소창이 C:\...로 시작하면 정상 — 아직 서버가 아니라 '내 컴퓨터 파일'을 보는 중이에요 (3회차 복선!)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CSS로 꾸미기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&lt;head&gt; 안에 &lt;style&gt;을 추가해요 — 모바일에서 누르기 좋게 '크고 둥글게'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 {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font-family: sans-serif;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text-align: center;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background: #EDF3FE;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h1 { color: #2E6BE6; }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button {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font-size: 24px;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20px 40px;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margin: 10px;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border-radius: 12px;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border: none;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background: #2E6BE6;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white;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선택자 { 속성: 값; } 구조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#2E6BE6 같은 코드가 '색상 번호'(RGB)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padding=버튼 안쪽 여백 → 버튼이 커져요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border-radius = 모서리 둥글기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과정 공통 규칙 : 파란 계열 · 큰 버튼 · 모바일 우선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JavaScript — 버튼에 생명을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누르면 반응해요 : 웹이 '문서'에서 '앱'이 되는 순간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③ 클릭 이벤트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&lt;/body&gt; 바로 위에 &lt;script&gt;를 추가해요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id="status"&gt;대기 중&lt;/p&gt;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onclick="ledOn()"&gt;LED 켜기&lt;/button&gt;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onclick="ledOff()"&gt;LED 끄기&lt;/button&gt;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ledOn() {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document.getElementById("status")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.innerText = "LED 켜짐!";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ledOff() {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document.getElementById("status")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.innerText = "LED 꺼짐";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onclick="함수()" : 클릭하면 이 함수를 실행하라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id는 요소의 이름표 — JS가 이름표로 요소를 찾아요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innerText = 글자 내용을 바꿔요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 진짜 LED는 안 켜져요 — 화면 글자만 바뀌어요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그럼 진짜 LED는 언제? → 다음 슬라이드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F12, 웹 개발자의 청진기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버튼이 말을 안 들을 때, 브라우저가 이유를 말해주고 있어요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브라우저에서 F12 누르기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마우스 우클릭 → 검사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탭에서 Console 클릭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여기가 에러 메시지가 표시되는 곳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버튼을 눌러 보고 빨간 글씨 확인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에러가 없으면 조용해요 — 조용하면 JS는 무죄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문장 읽기 : 무엇이 · 몇 번째 줄에서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ledOn is not defined = 'ledOn을 못 찾겠어' — 철자 확인!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고치고 저장(Ctrl+S) → F5 → 재확인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반복이 웹 개발의 기본 리듬이에요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4142232"/>
          </a:xfrm>
          <a:prstGeom prst="roundRect">
            <a:avLst>
              <a:gd name="adj" fmla="val 2208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개발자 도구 Console — 에러 메시지 예시 화면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에러 문장은 '범인의 자백'이에요 — 무섭다고 안 읽으면 영원히 못 잡아요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fetch — 다음 주를 여는 열쇠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JS가 '다른 컴퓨터에게 부탁을 보내는' 한 줄 : fetch("주소")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1520" y="1517904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2E6BE6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1790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클릭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29400" y="151790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onclick으로 함수 실행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44852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4203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fetch("/led/on") 실행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29400" y="25420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JS가 주소로 요청을 보내요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68980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6616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??? (다음 주 공개)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29400" y="35661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요청을 받아줄 상대가 필요해요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93108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590288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2E6BE6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9028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 LED가 켜져요!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29400" y="459028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3회차에 이 빈칸을 채워요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09760" y="1517904"/>
            <a:ext cx="2176272" cy="4837176"/>
          </a:xfrm>
          <a:prstGeom prst="roundRect">
            <a:avLst>
              <a:gd name="adj" fmla="val 4202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0" y="17007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765792" y="2139696"/>
            <a:ext cx="166420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페이지의 버튼은 '말은 하는데 들어줄 상대가 없는' 상태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 : ESP32가 그 '상대(서버)'가 되어줘요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만든 리모컨.html 파일을 꼭 저장해 오자 — 다음 주의 재료예요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2A1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14600" y="3383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③ 내 리모컨 웹페이지 완성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A1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+ 상태 표시 + 크고 둥근 버튼 2개(켜기/끄기), 누르면 상태 글자가 바뀌는 페이지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83112" cy="3200400"/>
          </a:xfrm>
          <a:prstGeom prst="roundRect">
            <a:avLst>
              <a:gd name="adj" fmla="val 2857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451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: h1 제목, 상태 p(id 부여), 버튼 2개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 : 파란 계열, 버튼 크게(모바일 기준), 가운데 정렬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 : 클릭 시 상태 글자 변경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이름과 개성을 담을 것 — 다음 주 이 페이지가 ESP32에 들어가요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5321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  </a:t>
            </a:r>
            <a:pPr indent="0" marL="0">
              <a:buNone/>
            </a:pPr>
            <a:r>
              <a:rPr lang="en-US" sz="1350" dirty="0">
                <a:solidFill>
                  <a:srgbClr val="6B4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순서대로 : ① 브라우저 F5 새로고침 했는지 ② 따옴표·괄호 짝 맞는지 ③ id 철자가 같은지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2회차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한글이 ???로 깨져 보여요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37960" y="1371600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0" y="1463040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&lt;meta charset="utf-8"&gt; 확인 + 저장할 때 인코딩 UTF-8 선택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78608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98648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670048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값이 nan 또는 0만 나와요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2578608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2670048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번호를 핀맵과 대조, DHT는 측정 간격 2초 이상, 배선 재확인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05656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3877056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버튼을 눌러도 아무 반응이 없어요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7960" y="3785616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387705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F12(개발자 도구) → Console 탭의 빨간 에러 읽기 — 함수 이름·id 철자 불일치가 대부분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992624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312664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71600" y="5084064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CSS가 적용이 안 돼요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4992624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5084064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&lt;style&gt;이 &lt;head&gt; 안에 있는지, 중괄호 { } 짝이 맞는지, 세미콜론 확인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035040" cy="3931920"/>
          </a:xfrm>
          <a:prstGeom prst="roundRect">
            <a:avLst>
              <a:gd name="adj" fmla="val 23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디지털/아날로그 입력의 차이를 이해하고 진동·홀·빛·온습도·초음파를 읽었어요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if 조건문으로 '판단하는 보드'(접근 경보기)를 만들었어요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HTML·CSS·JS의 역할을 구분하며 첫 웹페이지를 직접 작성했어요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이벤트로 화면이 반응하게 만들었어요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463040"/>
            <a:ext cx="4617720" cy="3931920"/>
          </a:xfrm>
          <a:prstGeom prst="roundRect">
            <a:avLst>
              <a:gd name="adj" fmla="val 2326"/>
            </a:avLst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1488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 : ESP32 웹서버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283464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만든 리모컨.html을 ESP32 안에 심어요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스마트폰이 ESP32의 WiFi에 직접 접속!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버튼으로 진짜 LED를 켜요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인터넷이 없어도 되는 나만의 서버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숙제 아닌 숙제 : 리모컨.html 파일을 USB나 클라우드에 꼭 보관해 오기 — 다음 주의 주인공이에요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2회차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2026-07-17T17:49:16Z</dcterms:created>
  <dcterms:modified xsi:type="dcterms:W3CDTF">2026-07-17T17:49:16Z</dcterms:modified>
</cp:coreProperties>
</file>