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동결의 날임을 예고하며 시작해요. '오늘 핵심 시나리오 하나를 끝까지 뚫습니다!'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목표와 시간표를 안내해요. 마지막 30분 기능 동결을 미리 공지해 심리적 준비를 시켜요.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시작. 팀별 센서 셀과 핀맵 카드를 배부해요.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'처음부터 다시 쓰지 않는다' 원칙을 설명해요. 템플릿 수정 3군데만 기억하면 된다고 안심시켜요.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화분팀은 토양습도 셀 연결과 캘리브레이션을 진행해요. 다른 팀도 자기 센서의 기준값을 측정!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연결 사진과 기준값 캡처를 남기게 해요. '기록이 신뢰의 근거'임을 강조해요.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 시작. 엔드 투 엔드의 의미를 설명해요.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'여러 기능 어중간보다 한 기능 완벽'이 오늘의 합격선임을 분명히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팀별 핵심 시나리오를 표에서 확인하게 해요. QR은 웹에서 처리한다는 점을 안내!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매점팀 예시 코드로 action 하나를 끝까지 뚫는 과정을 시범 보여요. 다른 팀은 이름만 바꾸면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3종 증거(폰·장치·시트) 촬영을 진행해요. 인증 팀에게는 스티커나 칭찬으로 축하!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3교시 시작. '기록의 목적은 저장이 아니라 결정'이라는 문장으로 열어요.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stats 함수를 함께 읽어요. 엑셀 COUNTIF의 코드 버전이라는 비유가 잘 통해요. i=1 시작 이유도 짚기!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알림 문법 표를 팀별로 정하게 해요. 소리는 폰 웹앱이 담당한다는 발상의 전환을 소개!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4교시 시작. 중간 데모 순서를 정해요.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팀당 3분 데모와 상호 피드백을 진행해요. 이후 기능 동결을 공식 선언 — 박수로 마무리!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여유 팀에게만 AI 스테이션을 안내해요. 출석팀 이미지 인식은 사진 미저장·사전 동의 필수!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막힘 사례를 공유해요. '구간 분리 점검'이 만능 열쇠임을 다시 강조!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동결 상태로 마무리해요. '오늘 밤 할 일 없음'이라는 멘트로 웃으며 끝내요. 다음 주가 본 무대!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6회차 / 7회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심장을 연결한다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 투 엔드 완성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터치 한 번이 하드웨어를 움직이고 데이터로 남는, 끊김 없는 한 줄기 흐름을 만들어요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배선 확정 · 센서 캘리브레이션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56432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21024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 엔드 투 엔드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2784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37376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· CSV · 알림 완성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89136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53728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데모 · 기능 동결 · AI 심화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구현 · 데이터 · 통계 · 4시간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EDF3F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3911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팀의 핵심 시나리오 1개를 웹→ESP32→시트까지 끊김 없이 완성해요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923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쌓인 데이터로 통계(합계·순위)를 계산해 웹 화면에 표시해요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95935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동결을 선언하고, 여유가 있으면 AI 선택 기능에 도전해요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422392" cy="4892040"/>
          </a:xfrm>
          <a:prstGeom prst="roundRect">
            <a:avLst>
              <a:gd name="adj" fmla="val 1869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 (50분 수업 + 10분 휴식)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1488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1488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07808" y="207568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배선 확정 · 핵심 센서 단독 테스트 · 캘리브레이션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31546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154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07808" y="308152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 1개 완성 (템플릿 수정 방식)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1605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1605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07808" y="408736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 집계 함수 · 통계 화면 · CSV · LCD·LED·웹 알림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0" y="51663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663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07808" y="50932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3분 중간 데모 · 상호 피드백 · 기능 동결 · AI 스테이션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배선 확정과 캘리브레이션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센서를 믿으려면, 먼저 센서를 의심해야 해요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개발 전략 — 처음부터 다시 쓰지 않아요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 템플릿을 '조금씩 고쳐서' 내 프로젝트로 만들어요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동작하는 상태를 유지하며 조금씩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왕창 고치면 어디서 틀렸는지 찾을 수 없어요 — 고치고, 확인하고, 또 고쳐요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템플릿에서 바꿀 곳은 3군데뿐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ESP32의 센서 읽기 부분 ② Apps Script의 action 함수들 ③ 웹앱 화면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개발자들도 똑같이 일해요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되는 코드에서 출발하는 것은 부끄러운 일이 아니라 '전문가의 방식'이에요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화분팀 특별 미션 — 토양습도 셀 연결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규칙 : 포트 위치(A2~A5) · 기준값 측정 · 해석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142232"/>
          </a:xfrm>
          <a:prstGeom prst="roundRect">
            <a:avLst>
              <a:gd name="adj" fmla="val 2208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SOIL 34 // A2~A5 위치 포트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(GPIO 34·35·36·39 — 핀맵 카드 확인)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1단계 : 원시값 관찰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raw = analogRead(SOIL);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Serial.println(raw);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공기 중(건조) 값 : ____ 기록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물컵 속(습윤) 값 : ____ 기록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2단계 : 0~100%로 번역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pct = map(raw, 건조값, 습윤값,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0, 100);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 = constrain(pct, 0, 100);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 케이블을 실드의 A2~A5 위치 포트에 꽂아요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자리? WiFi 사용 중엔 다른 아날로그 자리(ADC2)가 먹통이기 때문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건조·습윤 '기준값 측정'이 캘리브레이션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원시값은 그대로 못 써요 — 기준을 잡아 해석하는 것, 이게 데이터 다루기의 본질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팀도 동일 원리 : 우산팀=초음파·무게 기준값(우산 있음/없음), 출석팀=홀센서·자석 감지 거리, 매점팀=무게 영점과 상품 1개 무게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자리 — 배선과 캘리브레이션의 증거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값의 '기준'을 기록으로 남겨요 — 발표 때 신뢰의 근거가 돼요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배선 완료 상태를 위에서 촬영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 → 실드 A2~A5 위치 포트 연결이 잘 보이게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공기 중(건조) 상태의 시리얼 값 화면 캡처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3100 부근 — 워크시트에 기입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물컵 속(습윤) 상태의 값 화면 캡처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1300 부근 — 워크시트에 기입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기준값을 코드 map()에 반영 후 % 출력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0%(건조) ~ 100%(습윤)로 잘 번역되는지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화분 흙에 꽂고 현재 % 기록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화분의 '오늘 상태'가 첫 데이터가 돼요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연결 사진 — 토양습도 셀과 포트 위치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시리얼 모니터 — 건조/습윤 원시값 캡처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값이 반대로 움직이면(젖을수록 커짐) map의 건조값·습윤값 순서를 서로 바꾸면 돼요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 — 엔드 투 엔드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터치 → 하드웨어 반응 → 데이터 기록, 한 번에 이어지면 합격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 투 엔드(End to End)란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끝(사용자 터치)에서 끝(데이터 저장)까지 전 구간이 연결된 상태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반쪽 완성의 함정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웹만 예쁘거나, 보드만 움직이면 아직 0점 — 연결되어야 시스템이에요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합격선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 '단 1개'가 전 구간 관통 — 여러 기능 어중간보다 한 기능 완벽이 나아요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방법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폰에서 조작 → 3초 안에 장치 반응 → 시트에 새 줄 확인. 세 가지가 모두 보이면 통과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핵심 시나리오 — 오늘 뚫어야 할 한 줄기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754880"/>
                <a:gridCol w="301752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시나리오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하드웨어 반응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기록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웹에서 [콜라 판매] 터치 → 재고 1 차감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 'SOLD: cola' + LED 깜빡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판매로그 1줄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장바구니 [주문] → 주문번호 발급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LCD에 주문번호 크게 표시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주문로그 1줄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우산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QR 스캔 → 대여 처리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무게 변화로 대여 확인 + LCD 안내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대여로그 1줄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수분 20% 미만 감지 → 급수 알림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 '급수 필요!' + 웹 경고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알림·급수로그 1줄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체크인 → 인원 +1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 인원 갱신 + LED 깜빡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출입로그 1줄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스캔은 웹에서 : AI Studio에 "카메라로 QR을 스캔하는 기능을 추가해줘"라고 지시 (html5-qrcode 방식)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요령 — action 하나를 끝까지 뚫기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매점팀 예시 : 다른 팀도 이름만 바꾸면 같은 구조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[웹앱 JS] 판매 버튼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 + "?action=sell&amp;item=cola");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[Apps Script]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sell(e) {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item = e.parameter.item;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log.appendRow([new Date(), item, 1]);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재고 시트에서 해당 행 -1 처리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cmd.getRange("A1")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.setValue("SOLD:" + item);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.createTextOutput("OK");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[ESP32] 폴링에서 SOLD: 발견 시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LCD 표시 + LED 깜빡 후 A1 비움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웹은 action만 던져요 — 판단은 서버(Apps Script)가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알림은 명령 셀(A1)을 통해 전달 (4회차 폴링 그대로)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후 A1을 비워야 알림이 한 번만 울려요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구간씩 시리얼 모니터·시트를 보며 확인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엔드 투 엔드 3종 증거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 합격 판정법 : 한 번의 터치가 세 화면에 동시에 나타나야 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분담 : 조작 1명 · 촬영 1명 · 시트 감시 1명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폰에서 핵심 버튼 터치 → 폰 화면 캡처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① 사용자 행동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장치 반응(LCD·LED·센서)을 영상 촬영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② 하드웨어 반응 — 발표 백업 영상으로도 사용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시트에 새 줄이 생기는 순간 캡처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③ 데이터 기록 — 시각까지 함께 보이게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증거를 이 슬라이드에 나란히 배치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터치→반응까지 몇 초였는지도 기록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1481328"/>
            <a:ext cx="5696712" cy="1228344"/>
          </a:xfrm>
          <a:prstGeom prst="roundRect">
            <a:avLst>
              <a:gd name="adj" fmla="val 7444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309360" y="1481328"/>
            <a:ext cx="5056632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① 폰 조작 화면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989320" y="2938272"/>
            <a:ext cx="5696712" cy="1228344"/>
          </a:xfrm>
          <a:prstGeom prst="roundRect">
            <a:avLst>
              <a:gd name="adj" fmla="val 7444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309360" y="2938272"/>
            <a:ext cx="5056632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② 장치 반응 사진(또는 영상 캡처)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989320" y="4395216"/>
            <a:ext cx="5696712" cy="1228344"/>
          </a:xfrm>
          <a:prstGeom prst="roundRect">
            <a:avLst>
              <a:gd name="adj" fmla="val 7444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309360" y="4395216"/>
            <a:ext cx="5056632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③ 시트에 추가된 새 줄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세 증거의 시각이 같은 1분 안에 있으면 엔드 투 엔드 공식 인증 — 팀 보드에 스티커!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말하게 하라 — 통계와 알림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기록의 목적은 저장이 아니라 '결정'이에요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 집계 — 인기 순위 만들기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판매로그를 세면 인기 순위가 돼요 — 매점 주인의 '내일 뭘 들여올까'가 여기서 나와요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142232"/>
          </a:xfrm>
          <a:prstGeom prst="roundRect">
            <a:avLst>
              <a:gd name="adj" fmla="val 2208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stats() {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rows = log.getDataRange()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.getValues();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count = {};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1; i &lt; rows.length; i++){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item = rows[i][1]; // 상품명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count[item] = (count[item]||0) + 1;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ContentService.createTextOutput(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JSON.stringify(count))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.setMimeType(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ContentService.MimeType.JSON);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0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응답: {"cola":12, "chip":7, ...}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getValues() : 시트 전체를 표(2차원 배열)로 읽기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for문으로 한 줄씩 세기 — 엑셀 COUNTIF의 코드 버전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JSON으로 응답 → 웹앱이 받아 순위 표시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화분팀은 합계 대신 최근 24시간 평균, 우산팀은 이용 시간 계산 등 응용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CSV는 공짜 : 시트에서 파일 → 다운로드 → CSV. 발표 때 '데이터 파일'로 제출해요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설계 — 빛과 글자에도 '문법'이 있어요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상태별 알림 표를 정하면 사용자가 배우지 않아도 이해해요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71523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32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알림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짧게 2회 + LCD 'OK' 문구 — 판매 완료, 출석 완료, 반납 완료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428646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1884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055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52008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알림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849270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빠른 연속 점멸 + LCD '!!' — 재고 부족, 수분 부족, 우산 없음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375965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661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467405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표시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3796589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1줄 = 상태 요약, 2줄 = 상세 (예: 'SOLD: cola / stock 6')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323283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13478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9519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414723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알림은 폰이 담당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4743907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 프롬프트에 '알림 소리를 재생해줘' 한 줄 — 부저 없이도 폰이 스피커가 돼요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270602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460797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4250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36204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표로 정리해 발표 자료에 포함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417320" y="5691226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 → LED 패턴 → LCD 문구 → 웹 표시. '왜 이렇게 정했나'를 설명할 수 있으면 최고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데모 · 기능 동결 · AI 심화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멈출 줄 아는 것도 실력이에요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데모(팀당 3분)와 기능 동결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형식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시나리오를 '폰 → 장치 → 시트' 순서로 실연 — 설명은 짧게, 동작은 확실하게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06624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4203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규칙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17320" y="287121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팀은 '좋은 점 1 + 개선 제안 1'을 포스트잇으로 — 비난 금지, 구체적으로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85616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62102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동결(Feature Freeze) 선언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지금부터 새 기능 추가 금지! 남은 시간은 오류 수정과 다듬기만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608576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64608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70001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동결할까요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17320" y="5029200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전날 새 기능을 넣다가 전체가 깨지는 사고 — 개발 역사상 가장 흔한 비극이에요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여유 팀 도전 — AI 스테이션 (선택·심화)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블록코딩 도구의 AI 기능 : PC+웹캠으로 '인식하는 부스'를 병렬 운영</a:t>
            </a:r>
            <a:endParaRPr lang="en-US" sz="14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06240"/>
                <a:gridCol w="2926080"/>
                <a:gridCol w="26791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선택 기능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주의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과자를 카메라에 대면 상품 자동 인식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분류 (직접 촬영·학습)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 상품 사진 20장+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"콜라 주세요" 음성 주문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음성 인식 블록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조용한 곳에서 시연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잎 사진으로 건강/시듦 판정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분류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급수 판단의 보조로만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인식 체크인 체험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분류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사진 저장 금지·사전 동의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학습 : 팀이 직접 데이터를 모아 모델을 학습시키는 경험 — 'AI는 데이터로 만들어진다'를 몸으로 이해해요. 단, 핵심 시스템 완성이 언제나 우선!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6회차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버튼 → 장치 반응이 안 와요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37960" y="1371600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0" y="1463040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분리 점검 : ① URL?action=… 직접 열기 ② 시트 명령 셀 변하나 ③ ESP32 시리얼에 폴링 로그 찍히나 — 끊긴 구간만 고쳐요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78608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98648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670048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알림이 계속 반복해서 울려요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2578608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2670048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후 명령 셀(A1)을 비우는 코드가 빠짐 — setValue("") 추가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05656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3877056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토양수분 % 값이 반대로 나와요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7960" y="3785616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387705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저항식 센서는 건조할수록 값이 큰 경우가 많아요 — map의 건조값·습윤값 순서를 바꾸면 해결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992624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312664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0" y="5084064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숫자가 이상해요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4992624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5084064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getValues()의 0번째 줄은 '제목 행' — for문을 i=1부터 시작했는지 확인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035040" cy="3931920"/>
          </a:xfrm>
          <a:prstGeom prst="roundRect">
            <a:avLst>
              <a:gd name="adj" fmla="val 23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캘리브레이션으로 '믿을 수 있는 값'을 만들었어요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시나리오가 웹→장치→시트를 관통했어요 (엔드 투 엔드)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화면과 CSV, 알림 문법까지 완성했어요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동결 선언 — 이제 다듬기만 남았어요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4617720" cy="3931920"/>
          </a:xfrm>
          <a:prstGeom prst="roundRect">
            <a:avLst>
              <a:gd name="adj" fmla="val 2326"/>
            </a:avLst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1488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7회차 : 최종 발표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83464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팀이 우리 시스템을 써보는 교차 테스트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 + 리허설 + 백업 영상 촬영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발표 : 5분 발표 + 4분 시연 + 2분 질의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7주의 마무리, 그리고 시상!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밤 할 일 없음! — 기능 동결이니까. 대신 우리 시스템을 아껴주기. 다음 주가 본 무대예요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6회차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2026-07-17T17:49:17Z</dcterms:created>
  <dcterms:modified xsi:type="dcterms:W3CDTF">2026-07-17T17:49:17Z</dcterms:modified>
</cp:coreProperties>
</file>